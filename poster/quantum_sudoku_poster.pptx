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8404800" cy="32918400"/>
  <p:notesSz cx="32918400" cy="38404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38404800" cy="3840480"/>
          </a:xfrm>
          <a:prstGeom prst="rect">
            <a:avLst/>
          </a:prstGeom>
          <a:solidFill>
            <a:srgbClr val="0A1635"/>
          </a:solidFill>
          <a:ln w="12700">
            <a:solidFill>
              <a:srgbClr val="0A1635"/>
            </a:solidFill>
            <a:prstDash val="solid"/>
          </a:ln>
        </p:spPr>
      </p:sp>
      <p:sp>
        <p:nvSpPr>
          <p:cNvPr id="3" name="Shape 1"/>
          <p:cNvSpPr/>
          <p:nvPr/>
        </p:nvSpPr>
        <p:spPr>
          <a:xfrm>
            <a:off x="0" y="0"/>
            <a:ext cx="347472" cy="3840480"/>
          </a:xfrm>
          <a:prstGeom prst="rect">
            <a:avLst/>
          </a:prstGeom>
          <a:solidFill>
            <a:srgbClr val="00B4D8"/>
          </a:solidFill>
          <a:ln w="12700">
            <a:solidFill>
              <a:srgbClr val="00B4D8"/>
            </a:solidFill>
            <a:prstDash val="solid"/>
          </a:ln>
        </p:spPr>
      </p:sp>
      <p:sp>
        <p:nvSpPr>
          <p:cNvPr id="4" name="Text 2"/>
          <p:cNvSpPr/>
          <p:nvPr/>
        </p:nvSpPr>
        <p:spPr>
          <a:xfrm>
            <a:off x="640080" y="201168"/>
            <a:ext cx="29260800" cy="1325880"/>
          </a:xfrm>
          <a:prstGeom prst="rect">
            <a:avLst/>
          </a:prstGeom>
          <a:noFill/>
          <a:ln/>
        </p:spPr>
        <p:txBody>
          <a:bodyPr wrap="square" lIns="0" tIns="0" rIns="0" bIns="0" rtlCol="0" anchor="ctr"/>
          <a:lstStyle/>
          <a:p>
            <a:pPr algn="l" indent="0" marL="0">
              <a:buNone/>
            </a:pPr>
            <a:r>
              <a:rPr lang="en-US" sz="9600" b="1" dirty="0">
                <a:solidFill>
                  <a:srgbClr val="FFFFFF"/>
                </a:solidFill>
                <a:latin typeface="Calibri" pitchFamily="34" charset="0"/>
                <a:ea typeface="Calibri" pitchFamily="34" charset="-122"/>
                <a:cs typeface="Calibri" pitchFamily="34" charset="-120"/>
              </a:rPr>
              <a:t>One-Hot Quantum Annealing for Sudoku</a:t>
            </a:r>
            <a:endParaRPr lang="en-US" sz="9600" dirty="0"/>
          </a:p>
        </p:txBody>
      </p:sp>
      <p:sp>
        <p:nvSpPr>
          <p:cNvPr id="5" name="Text 3"/>
          <p:cNvSpPr/>
          <p:nvPr/>
        </p:nvSpPr>
        <p:spPr>
          <a:xfrm>
            <a:off x="640080" y="1627632"/>
            <a:ext cx="29260800" cy="658368"/>
          </a:xfrm>
          <a:prstGeom prst="rect">
            <a:avLst/>
          </a:prstGeom>
          <a:noFill/>
          <a:ln/>
        </p:spPr>
        <p:txBody>
          <a:bodyPr wrap="square" lIns="0" tIns="0" rIns="0" bIns="0" rtlCol="0" anchor="ctr"/>
          <a:lstStyle/>
          <a:p>
            <a:pPr algn="l" indent="0" marL="0">
              <a:buNone/>
            </a:pPr>
            <a:r>
              <a:rPr lang="en-US" sz="3000" dirty="0">
                <a:solidFill>
                  <a:srgbClr val="00B4D8"/>
                </a:solidFill>
                <a:latin typeface="Calibri" pitchFamily="34" charset="0"/>
                <a:ea typeface="Calibri" pitchFamily="34" charset="-122"/>
                <a:cs typeface="Calibri" pitchFamily="34" charset="-120"/>
              </a:rPr>
              <a:t>A QUBO Formulation of Sudoku as Graph Coloring  •  Benchmarked Against Classical Simulated Annealing  •  D-Wave Advantage2 QPU Validation</a:t>
            </a:r>
            <a:endParaRPr lang="en-US" sz="3000" dirty="0"/>
          </a:p>
        </p:txBody>
      </p:sp>
      <p:sp>
        <p:nvSpPr>
          <p:cNvPr id="6" name="Text 4"/>
          <p:cNvSpPr/>
          <p:nvPr/>
        </p:nvSpPr>
        <p:spPr>
          <a:xfrm>
            <a:off x="640080" y="2377440"/>
            <a:ext cx="27432000" cy="54864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Jonah Minkoff</a:t>
            </a:r>
            <a:endParaRPr lang="en-US" sz="3600" dirty="0"/>
          </a:p>
        </p:txBody>
      </p:sp>
      <p:sp>
        <p:nvSpPr>
          <p:cNvPr id="7" name="Text 5"/>
          <p:cNvSpPr/>
          <p:nvPr/>
        </p:nvSpPr>
        <p:spPr>
          <a:xfrm>
            <a:off x="640080" y="3017520"/>
            <a:ext cx="29260800" cy="502920"/>
          </a:xfrm>
          <a:prstGeom prst="rect">
            <a:avLst/>
          </a:prstGeom>
          <a:noFill/>
          <a:ln/>
        </p:spPr>
        <p:txBody>
          <a:bodyPr wrap="square" lIns="0" tIns="0" rIns="0" bIns="0" rtlCol="0" anchor="ctr"/>
          <a:lstStyle/>
          <a:p>
            <a:pPr algn="l" indent="0" marL="0">
              <a:buNone/>
            </a:pPr>
            <a:r>
              <a:rPr lang="en-US" sz="2600" dirty="0">
                <a:solidFill>
                  <a:srgbClr val="9BBDD6"/>
                </a:solidFill>
                <a:latin typeface="Calibri" pitchFamily="34" charset="0"/>
                <a:ea typeface="Calibri" pitchFamily="34" charset="-122"/>
                <a:cs typeface="Calibri" pitchFamily="34" charset="-120"/>
              </a:rPr>
              <a:t>Dept. of Computer Science  ·  Virginia Commonwealth University  ·  minkoffjg@vcu.edu</a:t>
            </a:r>
            <a:endParaRPr lang="en-US" sz="2600" dirty="0"/>
          </a:p>
        </p:txBody>
      </p:sp>
      <p:sp>
        <p:nvSpPr>
          <p:cNvPr id="8" name="Shape 6"/>
          <p:cNvSpPr/>
          <p:nvPr/>
        </p:nvSpPr>
        <p:spPr>
          <a:xfrm>
            <a:off x="31089600" y="320040"/>
            <a:ext cx="6858000" cy="3200400"/>
          </a:xfrm>
          <a:prstGeom prst="rect">
            <a:avLst/>
          </a:prstGeom>
          <a:solidFill>
            <a:srgbClr val="0D1B4B"/>
          </a:solidFill>
          <a:ln w="38100">
            <a:solidFill>
              <a:srgbClr val="00B4D8"/>
            </a:solidFill>
            <a:prstDash val="solid"/>
          </a:ln>
        </p:spPr>
      </p:sp>
      <p:sp>
        <p:nvSpPr>
          <p:cNvPr id="9" name="Text 7"/>
          <p:cNvSpPr/>
          <p:nvPr/>
        </p:nvSpPr>
        <p:spPr>
          <a:xfrm>
            <a:off x="31089600" y="502920"/>
            <a:ext cx="6858000" cy="1371600"/>
          </a:xfrm>
          <a:prstGeom prst="rect">
            <a:avLst/>
          </a:prstGeom>
          <a:noFill/>
          <a:ln/>
        </p:spPr>
        <p:txBody>
          <a:bodyPr wrap="square" lIns="0" tIns="0" rIns="0" bIns="0" rtlCol="0" anchor="ctr"/>
          <a:lstStyle/>
          <a:p>
            <a:pPr algn="ctr" indent="0" marL="0">
              <a:buNone/>
            </a:pPr>
            <a:r>
              <a:rPr lang="en-US" sz="8800" b="1" dirty="0">
                <a:solidFill>
                  <a:srgbClr val="FFFFFF"/>
                </a:solidFill>
                <a:latin typeface="Calibri" pitchFamily="34" charset="0"/>
                <a:ea typeface="Calibri" pitchFamily="34" charset="-122"/>
                <a:cs typeface="Calibri" pitchFamily="34" charset="-120"/>
              </a:rPr>
              <a:t>VCU</a:t>
            </a:r>
            <a:endParaRPr lang="en-US" sz="8800" dirty="0"/>
          </a:p>
        </p:txBody>
      </p:sp>
      <p:sp>
        <p:nvSpPr>
          <p:cNvPr id="10" name="Text 8"/>
          <p:cNvSpPr/>
          <p:nvPr/>
        </p:nvSpPr>
        <p:spPr>
          <a:xfrm>
            <a:off x="31089600" y="1920240"/>
            <a:ext cx="6858000" cy="502920"/>
          </a:xfrm>
          <a:prstGeom prst="rect">
            <a:avLst/>
          </a:prstGeom>
          <a:noFill/>
          <a:ln/>
        </p:spPr>
        <p:txBody>
          <a:bodyPr wrap="square" lIns="0" tIns="0" rIns="0" bIns="0" rtlCol="0" anchor="ctr"/>
          <a:lstStyle/>
          <a:p>
            <a:pPr algn="ctr" indent="0" marL="0">
              <a:buNone/>
            </a:pPr>
            <a:r>
              <a:rPr lang="en-US" sz="2200" b="1" spc="200" kern="0" dirty="0">
                <a:solidFill>
                  <a:srgbClr val="00B4D8"/>
                </a:solidFill>
              </a:rPr>
              <a:t>COMPUTER SCIENCE</a:t>
            </a:r>
            <a:endParaRPr lang="en-US" sz="2200" dirty="0"/>
          </a:p>
        </p:txBody>
      </p:sp>
      <p:sp>
        <p:nvSpPr>
          <p:cNvPr id="11" name="Text 9"/>
          <p:cNvSpPr/>
          <p:nvPr/>
        </p:nvSpPr>
        <p:spPr>
          <a:xfrm>
            <a:off x="31089600" y="2487168"/>
            <a:ext cx="6858000" cy="411480"/>
          </a:xfrm>
          <a:prstGeom prst="rect">
            <a:avLst/>
          </a:prstGeom>
          <a:noFill/>
          <a:ln/>
        </p:spPr>
        <p:txBody>
          <a:bodyPr wrap="square" lIns="0" tIns="0" rIns="0" bIns="0" rtlCol="0" anchor="ctr"/>
          <a:lstStyle/>
          <a:p>
            <a:pPr algn="ctr" indent="0" marL="0">
              <a:buNone/>
            </a:pPr>
            <a:r>
              <a:rPr lang="en-US" sz="1900" dirty="0">
                <a:solidFill>
                  <a:srgbClr val="9BBDD6"/>
                </a:solidFill>
              </a:rPr>
              <a:t>Virginia Commonwealth University</a:t>
            </a:r>
            <a:endParaRPr lang="en-US" sz="1900" dirty="0"/>
          </a:p>
        </p:txBody>
      </p:sp>
      <p:sp>
        <p:nvSpPr>
          <p:cNvPr id="12" name="Shape 10"/>
          <p:cNvSpPr/>
          <p:nvPr/>
        </p:nvSpPr>
        <p:spPr>
          <a:xfrm>
            <a:off x="0" y="3840480"/>
            <a:ext cx="38404800" cy="137160"/>
          </a:xfrm>
          <a:prstGeom prst="rect">
            <a:avLst/>
          </a:prstGeom>
          <a:solidFill>
            <a:srgbClr val="00B4D8"/>
          </a:solidFill>
          <a:ln w="12700">
            <a:solidFill>
              <a:srgbClr val="00B4D8"/>
            </a:solidFill>
            <a:prstDash val="solid"/>
          </a:ln>
        </p:spPr>
      </p:sp>
      <p:sp>
        <p:nvSpPr>
          <p:cNvPr id="13" name="Shape 11"/>
          <p:cNvSpPr/>
          <p:nvPr/>
        </p:nvSpPr>
        <p:spPr>
          <a:xfrm>
            <a:off x="548640" y="4206240"/>
            <a:ext cx="11887200" cy="9144000"/>
          </a:xfrm>
          <a:prstGeom prst="rect">
            <a:avLst/>
          </a:prstGeom>
          <a:solidFill>
            <a:srgbClr val="E8F4FA"/>
          </a:solidFill>
          <a:ln w="19050">
            <a:solidFill>
              <a:srgbClr val="B8D0E8"/>
            </a:solidFill>
            <a:prstDash val="solid"/>
          </a:ln>
        </p:spPr>
      </p:sp>
      <p:sp>
        <p:nvSpPr>
          <p:cNvPr id="14" name="Shape 12"/>
          <p:cNvSpPr/>
          <p:nvPr/>
        </p:nvSpPr>
        <p:spPr>
          <a:xfrm>
            <a:off x="548640" y="4206240"/>
            <a:ext cx="11887200" cy="566928"/>
          </a:xfrm>
          <a:prstGeom prst="rect">
            <a:avLst/>
          </a:prstGeom>
          <a:solidFill>
            <a:srgbClr val="0077A8"/>
          </a:solidFill>
          <a:ln w="12700">
            <a:solidFill>
              <a:srgbClr val="0077A8"/>
            </a:solidFill>
            <a:prstDash val="solid"/>
          </a:ln>
        </p:spPr>
      </p:sp>
      <p:sp>
        <p:nvSpPr>
          <p:cNvPr id="15" name="Text 13"/>
          <p:cNvSpPr/>
          <p:nvPr/>
        </p:nvSpPr>
        <p:spPr>
          <a:xfrm>
            <a:off x="713232" y="420624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INTRODUCTION &amp; MOTIVATION</a:t>
            </a:r>
            <a:endParaRPr lang="en-US" sz="2600" dirty="0"/>
          </a:p>
        </p:txBody>
      </p:sp>
      <p:sp>
        <p:nvSpPr>
          <p:cNvPr id="16" name="Text 14"/>
          <p:cNvSpPr/>
          <p:nvPr/>
        </p:nvSpPr>
        <p:spPr>
          <a:xfrm>
            <a:off x="731520" y="4864608"/>
            <a:ext cx="11567160" cy="8394192"/>
          </a:xfrm>
          <a:prstGeom prst="rect">
            <a:avLst/>
          </a:prstGeom>
          <a:noFill/>
          <a:ln/>
        </p:spPr>
        <p:txBody>
          <a:bodyPr wrap="square" rtlCol="0" anchor="t"/>
          <a:lstStyle/>
          <a:p>
            <a:pPr algn="l" indent="0" marL="0">
              <a:buNone/>
            </a:pPr>
            <a:r>
              <a:rPr lang="en-US" sz="2500" b="1" dirty="0">
                <a:solidFill>
                  <a:srgbClr val="000000"/>
                </a:solidFill>
              </a:rPr>
              <a:t>What is Sudoku?
</a:t>
            </a:r>
            <a:endParaRPr lang="en-US" sz="2500" dirty="0"/>
          </a:p>
          <a:p>
            <a:pPr algn="l" indent="0" marL="0">
              <a:buNone/>
            </a:pPr>
            <a:r>
              <a:rPr lang="en-US" sz="2300" dirty="0">
                <a:solidFill>
                  <a:srgbClr val="000000"/>
                </a:solidFill>
              </a:rPr>
              <a:t>Sudoku is a constraint satisfaction problem (CSP) modeled as graph coloring on an N×N grid: each cell receives exactly one digit 1–N such that no digit repeats in any row, column, or √N×√N box. It encodes the same constraint structure found in scheduling, resource allocation, and combinatorial optimization.
</a:t>
            </a:r>
            <a:endParaRPr lang="en-US" sz="2500" dirty="0"/>
          </a:p>
          <a:p>
            <a:pPr algn="l" indent="0" marL="0">
              <a:buNone/>
            </a:pPr>
            <a:r>
              <a:rPr lang="en-US" sz="2500" b="1" dirty="0">
                <a:solidFill>
                  <a:srgbClr val="000000"/>
                </a:solidFill>
              </a:rPr>
              <a:t>
Why Quantum Annealing?
</a:t>
            </a:r>
            <a:endParaRPr lang="en-US" sz="2500" dirty="0"/>
          </a:p>
          <a:p>
            <a:pPr algn="l" indent="0" marL="0">
              <a:buNone/>
            </a:pPr>
            <a:r>
              <a:rPr lang="en-US" sz="2300" dirty="0">
                <a:solidFill>
                  <a:srgbClr val="000000"/>
                </a:solidFill>
              </a:rPr>
              <a:t>Classical solvers (backtracking, constraint propagation, dancing links) solve 9×9 in milliseconds but scale poorly as constraints densify. Quantum annealing leverages quantum tunneling to escape local energy minima — ideal for constraint-heavy landscapes where classical methods get trapped.
</a:t>
            </a:r>
            <a:endParaRPr lang="en-US" sz="2500" dirty="0"/>
          </a:p>
          <a:p>
            <a:pPr algn="l" indent="0" marL="0">
              <a:buNone/>
            </a:pPr>
            <a:r>
              <a:rPr lang="en-US" sz="2500" b="1" dirty="0">
                <a:solidFill>
                  <a:srgbClr val="000000"/>
                </a:solidFill>
              </a:rPr>
              <a:t>
Goal
</a:t>
            </a:r>
            <a:endParaRPr lang="en-US" sz="2500" dirty="0"/>
          </a:p>
          <a:p>
            <a:pPr algn="l" indent="0" marL="0">
              <a:buNone/>
            </a:pPr>
            <a:r>
              <a:rPr lang="en-US" sz="2300" dirty="0">
                <a:solidFill>
                  <a:srgbClr val="000000"/>
                </a:solidFill>
              </a:rPr>
              <a:t>Derive a QUBO formulation for Sudoku from first principles, validate correctness via simulated annealing, then test on D-Wave’s Leap Hybrid BQM Solver and Advantage2 QPU. Benchmark scalability from 4×4 to 9×9, comparing quantum and classical methods on success rate and energy.
</a:t>
            </a:r>
            <a:endParaRPr lang="en-US" sz="2500" dirty="0"/>
          </a:p>
          <a:p>
            <a:pPr algn="l" indent="0" marL="0">
              <a:buNone/>
            </a:pPr>
            <a:r>
              <a:rPr lang="en-US" sz="2500" b="1" dirty="0">
                <a:solidFill>
                  <a:srgbClr val="000000"/>
                </a:solidFill>
              </a:rPr>
              <a:t>
Hardware Platform
</a:t>
            </a:r>
            <a:endParaRPr lang="en-US" sz="2500" dirty="0"/>
          </a:p>
          <a:p>
            <a:pPr algn="l" indent="0" marL="0">
              <a:buNone/>
            </a:pPr>
            <a:r>
              <a:rPr lang="en-US" sz="2300" dirty="0">
                <a:solidFill>
                  <a:srgbClr val="000000"/>
                </a:solidFill>
              </a:rPr>
              <a:t>D-Wave Advantage2: 5,000+ superconducting qubits on Pegasus P16 topology. QUBO variables are mapped to physical qubits via minor embedding, with coupled qubit chains representing binary decisions. QPU experiments use 1,000 reads at 200 μs anneal time with forward annealing.</a:t>
            </a:r>
            <a:endParaRPr lang="en-US" sz="2500" dirty="0"/>
          </a:p>
        </p:txBody>
      </p:sp>
      <p:sp>
        <p:nvSpPr>
          <p:cNvPr id="17" name="Shape 15"/>
          <p:cNvSpPr/>
          <p:nvPr/>
        </p:nvSpPr>
        <p:spPr>
          <a:xfrm>
            <a:off x="548640" y="13533120"/>
            <a:ext cx="11887200" cy="11201400"/>
          </a:xfrm>
          <a:prstGeom prst="rect">
            <a:avLst/>
          </a:prstGeom>
          <a:solidFill>
            <a:srgbClr val="FFFFFF"/>
          </a:solidFill>
          <a:ln w="19050">
            <a:solidFill>
              <a:srgbClr val="B8D0E8"/>
            </a:solidFill>
            <a:prstDash val="solid"/>
          </a:ln>
        </p:spPr>
      </p:sp>
      <p:sp>
        <p:nvSpPr>
          <p:cNvPr id="18" name="Shape 16"/>
          <p:cNvSpPr/>
          <p:nvPr/>
        </p:nvSpPr>
        <p:spPr>
          <a:xfrm>
            <a:off x="548640" y="13533120"/>
            <a:ext cx="11887200" cy="566928"/>
          </a:xfrm>
          <a:prstGeom prst="rect">
            <a:avLst/>
          </a:prstGeom>
          <a:solidFill>
            <a:srgbClr val="3D4F60"/>
          </a:solidFill>
          <a:ln w="12700">
            <a:solidFill>
              <a:srgbClr val="3D4F60"/>
            </a:solidFill>
            <a:prstDash val="solid"/>
          </a:ln>
        </p:spPr>
      </p:sp>
      <p:sp>
        <p:nvSpPr>
          <p:cNvPr id="19" name="Text 17"/>
          <p:cNvSpPr/>
          <p:nvPr/>
        </p:nvSpPr>
        <p:spPr>
          <a:xfrm>
            <a:off x="713232" y="1353312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QUBO FORMULATION</a:t>
            </a:r>
            <a:endParaRPr lang="en-US" sz="2600" dirty="0"/>
          </a:p>
        </p:txBody>
      </p:sp>
      <p:sp>
        <p:nvSpPr>
          <p:cNvPr id="20" name="Shape 18"/>
          <p:cNvSpPr/>
          <p:nvPr/>
        </p:nvSpPr>
        <p:spPr>
          <a:xfrm>
            <a:off x="731520" y="14282928"/>
            <a:ext cx="11521440" cy="1188720"/>
          </a:xfrm>
          <a:prstGeom prst="rect">
            <a:avLst/>
          </a:prstGeom>
          <a:solidFill>
            <a:srgbClr val="E8F4FA"/>
          </a:solidFill>
          <a:ln w="31750">
            <a:solidFill>
              <a:srgbClr val="00B4D8"/>
            </a:solidFill>
            <a:prstDash val="solid"/>
          </a:ln>
        </p:spPr>
      </p:sp>
      <p:sp>
        <p:nvSpPr>
          <p:cNvPr id="21" name="Text 19"/>
          <p:cNvSpPr/>
          <p:nvPr/>
        </p:nvSpPr>
        <p:spPr>
          <a:xfrm>
            <a:off x="822960" y="14374368"/>
            <a:ext cx="11338560" cy="548640"/>
          </a:xfrm>
          <a:prstGeom prst="rect">
            <a:avLst/>
          </a:prstGeom>
          <a:noFill/>
          <a:ln/>
        </p:spPr>
        <p:txBody>
          <a:bodyPr wrap="square" lIns="0" tIns="0" rIns="0" bIns="0" rtlCol="0" anchor="ctr"/>
          <a:lstStyle/>
          <a:p>
            <a:pPr algn="l" indent="0" marL="0">
              <a:buNone/>
            </a:pPr>
            <a:r>
              <a:rPr lang="en-US" sz="2500" b="1" dirty="0">
                <a:solidFill>
                  <a:srgbClr val="000000"/>
                </a:solidFill>
              </a:rPr>
              <a:t>Binary Variable: </a:t>
            </a:r>
            <a:pPr algn="l" indent="0" marL="0">
              <a:buNone/>
            </a:pPr>
            <a:r>
              <a:rPr lang="en-US" sz="2500" dirty="0">
                <a:solidFill>
                  <a:srgbClr val="000000"/>
                </a:solidFill>
              </a:rPr>
              <a:t>x</a:t>
            </a:r>
            <a:pPr algn="l" indent="0" marL="0">
              <a:buNone/>
            </a:pPr>
            <a:r>
              <a:rPr lang="en-US" sz="1900" baseline="-500" dirty="0">
                <a:solidFill>
                  <a:srgbClr val="000000"/>
                </a:solidFill>
              </a:rPr>
              <a:t>i,j,k</a:t>
            </a:r>
            <a:pPr algn="l" indent="0" marL="0">
              <a:buNone/>
            </a:pPr>
            <a:r>
              <a:rPr lang="en-US" sz="2500" dirty="0">
                <a:solidFill>
                  <a:srgbClr val="000000"/>
                </a:solidFill>
              </a:rPr>
              <a:t> = 1  if cell (i,j) holds digit k+1,  else 0</a:t>
            </a:r>
            <a:endParaRPr lang="en-US" sz="2500" dirty="0"/>
          </a:p>
        </p:txBody>
      </p:sp>
      <p:sp>
        <p:nvSpPr>
          <p:cNvPr id="22" name="Text 20"/>
          <p:cNvSpPr/>
          <p:nvPr/>
        </p:nvSpPr>
        <p:spPr>
          <a:xfrm>
            <a:off x="822960" y="14950440"/>
            <a:ext cx="11338560" cy="384048"/>
          </a:xfrm>
          <a:prstGeom prst="rect">
            <a:avLst/>
          </a:prstGeom>
          <a:noFill/>
          <a:ln/>
        </p:spPr>
        <p:txBody>
          <a:bodyPr wrap="square" lIns="0" tIns="0" rIns="0" bIns="0" rtlCol="0" anchor="ctr"/>
          <a:lstStyle/>
          <a:p>
            <a:pPr algn="l" indent="0" marL="0">
              <a:buNone/>
            </a:pPr>
            <a:r>
              <a:rPr lang="en-US" sz="2000" i="1" dirty="0">
                <a:solidFill>
                  <a:srgbClr val="3D4F60"/>
                </a:solidFill>
              </a:rPr>
              <a:t>4×4: 64 vars  |  9×9: 729 vars  |  9×9 with 30 givens: 459 free vars  (37% reduction via given-cell elimination)</a:t>
            </a:r>
            <a:endParaRPr lang="en-US" sz="2000" dirty="0"/>
          </a:p>
        </p:txBody>
      </p:sp>
      <p:sp>
        <p:nvSpPr>
          <p:cNvPr id="23" name="Text 21"/>
          <p:cNvSpPr/>
          <p:nvPr/>
        </p:nvSpPr>
        <p:spPr>
          <a:xfrm>
            <a:off x="731520" y="15636240"/>
            <a:ext cx="11521440" cy="438912"/>
          </a:xfrm>
          <a:prstGeom prst="rect">
            <a:avLst/>
          </a:prstGeom>
          <a:noFill/>
          <a:ln/>
        </p:spPr>
        <p:txBody>
          <a:bodyPr wrap="square" lIns="0" tIns="0" rIns="0" bIns="0" rtlCol="0" anchor="ctr"/>
          <a:lstStyle/>
          <a:p>
            <a:pPr indent="0" marL="0">
              <a:buNone/>
            </a:pPr>
            <a:r>
              <a:rPr lang="en-US" sz="2500" b="1" dirty="0">
                <a:solidFill>
                  <a:srgbClr val="1A202C"/>
                </a:solidFill>
              </a:rPr>
              <a:t>Energy Function  —  minimize to solve:</a:t>
            </a:r>
            <a:endParaRPr lang="en-US" sz="2500" dirty="0"/>
          </a:p>
        </p:txBody>
      </p:sp>
      <p:sp>
        <p:nvSpPr>
          <p:cNvPr id="24" name="Text 22"/>
          <p:cNvSpPr/>
          <p:nvPr/>
        </p:nvSpPr>
        <p:spPr>
          <a:xfrm>
            <a:off x="731520" y="16139160"/>
            <a:ext cx="11521440" cy="685800"/>
          </a:xfrm>
          <a:prstGeom prst="rect">
            <a:avLst/>
          </a:prstGeom>
          <a:noFill/>
          <a:ln/>
        </p:spPr>
        <p:txBody>
          <a:bodyPr wrap="square" lIns="0" tIns="0" rIns="0" bIns="0" rtlCol="0" anchor="ctr"/>
          <a:lstStyle/>
          <a:p>
            <a:pPr algn="ctr" indent="0" marL="0">
              <a:buNone/>
            </a:pPr>
            <a:r>
              <a:rPr lang="en-US" sz="3400" b="1" dirty="0">
                <a:solidFill>
                  <a:srgbClr val="0077A8"/>
                </a:solidFill>
                <a:latin typeface="Calibri" pitchFamily="34" charset="0"/>
                <a:ea typeface="Calibri" pitchFamily="34" charset="-122"/>
                <a:cs typeface="Calibri" pitchFamily="34" charset="-120"/>
              </a:rPr>
              <a:t>Eₜₒₜₐₗ = E₁ + E₂ + E₃ + E₄ = 0  ⇒  Valid Sudoku</a:t>
            </a:r>
            <a:endParaRPr lang="en-US" sz="3400" dirty="0"/>
          </a:p>
        </p:txBody>
      </p:sp>
      <p:sp>
        <p:nvSpPr>
          <p:cNvPr id="25" name="Shape 23"/>
          <p:cNvSpPr/>
          <p:nvPr/>
        </p:nvSpPr>
        <p:spPr>
          <a:xfrm>
            <a:off x="731520" y="16989552"/>
            <a:ext cx="2468880" cy="1335024"/>
          </a:xfrm>
          <a:prstGeom prst="rect">
            <a:avLst/>
          </a:prstGeom>
          <a:solidFill>
            <a:srgbClr val="0D1B4B"/>
          </a:solidFill>
          <a:ln w="12700">
            <a:solidFill>
              <a:srgbClr val="0D1B4B"/>
            </a:solidFill>
            <a:prstDash val="solid"/>
          </a:ln>
        </p:spPr>
      </p:sp>
      <p:sp>
        <p:nvSpPr>
          <p:cNvPr id="26" name="Text 24"/>
          <p:cNvSpPr/>
          <p:nvPr/>
        </p:nvSpPr>
        <p:spPr>
          <a:xfrm>
            <a:off x="731520" y="1698955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E₁  Cell</a:t>
            </a:r>
            <a:endParaRPr lang="en-US" sz="2400" dirty="0"/>
          </a:p>
        </p:txBody>
      </p:sp>
      <p:sp>
        <p:nvSpPr>
          <p:cNvPr id="27" name="Shape 25"/>
          <p:cNvSpPr/>
          <p:nvPr/>
        </p:nvSpPr>
        <p:spPr>
          <a:xfrm>
            <a:off x="3218688" y="16989552"/>
            <a:ext cx="9034272" cy="1335024"/>
          </a:xfrm>
          <a:prstGeom prst="rect">
            <a:avLst/>
          </a:prstGeom>
          <a:solidFill>
            <a:srgbClr val="E8F4FA"/>
          </a:solidFill>
          <a:ln w="12700">
            <a:solidFill>
              <a:srgbClr val="B8D0E8"/>
            </a:solidFill>
            <a:prstDash val="solid"/>
          </a:ln>
        </p:spPr>
      </p:sp>
      <p:sp>
        <p:nvSpPr>
          <p:cNvPr id="28" name="Text 26"/>
          <p:cNvSpPr/>
          <p:nvPr/>
        </p:nvSpPr>
        <p:spPr>
          <a:xfrm>
            <a:off x="3383280" y="1698955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Σᵢⱼ (Σₖ xᵢⱼₖ − 1)²  —  </a:t>
            </a:r>
            <a:pPr algn="l" indent="0" marL="0">
              <a:buNone/>
            </a:pPr>
            <a:r>
              <a:rPr lang="en-US" sz="2400" i="1" dirty="0">
                <a:solidFill>
                  <a:srgbClr val="3D4F60"/>
                </a:solidFill>
              </a:rPr>
              <a:t>each cell holds exactly one digit</a:t>
            </a:r>
            <a:endParaRPr lang="en-US" sz="3400" dirty="0"/>
          </a:p>
        </p:txBody>
      </p:sp>
      <p:sp>
        <p:nvSpPr>
          <p:cNvPr id="29" name="Shape 27"/>
          <p:cNvSpPr/>
          <p:nvPr/>
        </p:nvSpPr>
        <p:spPr>
          <a:xfrm>
            <a:off x="731520" y="18452592"/>
            <a:ext cx="2468880" cy="1335024"/>
          </a:xfrm>
          <a:prstGeom prst="rect">
            <a:avLst/>
          </a:prstGeom>
          <a:solidFill>
            <a:srgbClr val="0D1B4B"/>
          </a:solidFill>
          <a:ln w="12700">
            <a:solidFill>
              <a:srgbClr val="0D1B4B"/>
            </a:solidFill>
            <a:prstDash val="solid"/>
          </a:ln>
        </p:spPr>
      </p:sp>
      <p:sp>
        <p:nvSpPr>
          <p:cNvPr id="30" name="Text 28"/>
          <p:cNvSpPr/>
          <p:nvPr/>
        </p:nvSpPr>
        <p:spPr>
          <a:xfrm>
            <a:off x="731520" y="1845259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E₂  Row</a:t>
            </a:r>
            <a:endParaRPr lang="en-US" sz="2400" dirty="0"/>
          </a:p>
        </p:txBody>
      </p:sp>
      <p:sp>
        <p:nvSpPr>
          <p:cNvPr id="31" name="Shape 29"/>
          <p:cNvSpPr/>
          <p:nvPr/>
        </p:nvSpPr>
        <p:spPr>
          <a:xfrm>
            <a:off x="3218688" y="18452592"/>
            <a:ext cx="9034272" cy="1335024"/>
          </a:xfrm>
          <a:prstGeom prst="rect">
            <a:avLst/>
          </a:prstGeom>
          <a:solidFill>
            <a:srgbClr val="E8F4FA"/>
          </a:solidFill>
          <a:ln w="12700">
            <a:solidFill>
              <a:srgbClr val="B8D0E8"/>
            </a:solidFill>
            <a:prstDash val="solid"/>
          </a:ln>
        </p:spPr>
      </p:sp>
      <p:sp>
        <p:nvSpPr>
          <p:cNvPr id="32" name="Text 30"/>
          <p:cNvSpPr/>
          <p:nvPr/>
        </p:nvSpPr>
        <p:spPr>
          <a:xfrm>
            <a:off x="3383280" y="1845259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Σᵢₖ (Σⱼ xᵢⱼₖ − 1)²  —  </a:t>
            </a:r>
            <a:pPr algn="l" indent="0" marL="0">
              <a:buNone/>
            </a:pPr>
            <a:r>
              <a:rPr lang="en-US" sz="2400" i="1" dirty="0">
                <a:solidFill>
                  <a:srgbClr val="3D4F60"/>
                </a:solidFill>
              </a:rPr>
              <a:t>each digit appears once per row</a:t>
            </a:r>
            <a:endParaRPr lang="en-US" sz="3400" dirty="0"/>
          </a:p>
        </p:txBody>
      </p:sp>
      <p:sp>
        <p:nvSpPr>
          <p:cNvPr id="33" name="Shape 31"/>
          <p:cNvSpPr/>
          <p:nvPr/>
        </p:nvSpPr>
        <p:spPr>
          <a:xfrm>
            <a:off x="731520" y="19915632"/>
            <a:ext cx="2468880" cy="1335024"/>
          </a:xfrm>
          <a:prstGeom prst="rect">
            <a:avLst/>
          </a:prstGeom>
          <a:solidFill>
            <a:srgbClr val="0D1B4B"/>
          </a:solidFill>
          <a:ln w="12700">
            <a:solidFill>
              <a:srgbClr val="0D1B4B"/>
            </a:solidFill>
            <a:prstDash val="solid"/>
          </a:ln>
        </p:spPr>
      </p:sp>
      <p:sp>
        <p:nvSpPr>
          <p:cNvPr id="34" name="Text 32"/>
          <p:cNvSpPr/>
          <p:nvPr/>
        </p:nvSpPr>
        <p:spPr>
          <a:xfrm>
            <a:off x="731520" y="1991563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E₃  Column</a:t>
            </a:r>
            <a:endParaRPr lang="en-US" sz="2400" dirty="0"/>
          </a:p>
        </p:txBody>
      </p:sp>
      <p:sp>
        <p:nvSpPr>
          <p:cNvPr id="35" name="Shape 33"/>
          <p:cNvSpPr/>
          <p:nvPr/>
        </p:nvSpPr>
        <p:spPr>
          <a:xfrm>
            <a:off x="3218688" y="19915632"/>
            <a:ext cx="9034272" cy="1335024"/>
          </a:xfrm>
          <a:prstGeom prst="rect">
            <a:avLst/>
          </a:prstGeom>
          <a:solidFill>
            <a:srgbClr val="E8F4FA"/>
          </a:solidFill>
          <a:ln w="12700">
            <a:solidFill>
              <a:srgbClr val="B8D0E8"/>
            </a:solidFill>
            <a:prstDash val="solid"/>
          </a:ln>
        </p:spPr>
      </p:sp>
      <p:sp>
        <p:nvSpPr>
          <p:cNvPr id="36" name="Text 34"/>
          <p:cNvSpPr/>
          <p:nvPr/>
        </p:nvSpPr>
        <p:spPr>
          <a:xfrm>
            <a:off x="3383280" y="1991563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Σⱼₖ (Σᵢ xᵢⱼₖ − 1)²  —  </a:t>
            </a:r>
            <a:pPr algn="l" indent="0" marL="0">
              <a:buNone/>
            </a:pPr>
            <a:r>
              <a:rPr lang="en-US" sz="2400" i="1" dirty="0">
                <a:solidFill>
                  <a:srgbClr val="3D4F60"/>
                </a:solidFill>
              </a:rPr>
              <a:t>each digit appears once per column</a:t>
            </a:r>
            <a:endParaRPr lang="en-US" sz="3400" dirty="0"/>
          </a:p>
        </p:txBody>
      </p:sp>
      <p:sp>
        <p:nvSpPr>
          <p:cNvPr id="37" name="Shape 35"/>
          <p:cNvSpPr/>
          <p:nvPr/>
        </p:nvSpPr>
        <p:spPr>
          <a:xfrm>
            <a:off x="731520" y="21378672"/>
            <a:ext cx="2468880" cy="1335024"/>
          </a:xfrm>
          <a:prstGeom prst="rect">
            <a:avLst/>
          </a:prstGeom>
          <a:solidFill>
            <a:srgbClr val="0D1B4B"/>
          </a:solidFill>
          <a:ln w="12700">
            <a:solidFill>
              <a:srgbClr val="0D1B4B"/>
            </a:solidFill>
            <a:prstDash val="solid"/>
          </a:ln>
        </p:spPr>
      </p:sp>
      <p:sp>
        <p:nvSpPr>
          <p:cNvPr id="38" name="Text 36"/>
          <p:cNvSpPr/>
          <p:nvPr/>
        </p:nvSpPr>
        <p:spPr>
          <a:xfrm>
            <a:off x="731520" y="2137867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E₄  Box</a:t>
            </a:r>
            <a:endParaRPr lang="en-US" sz="2400" dirty="0"/>
          </a:p>
        </p:txBody>
      </p:sp>
      <p:sp>
        <p:nvSpPr>
          <p:cNvPr id="39" name="Shape 37"/>
          <p:cNvSpPr/>
          <p:nvPr/>
        </p:nvSpPr>
        <p:spPr>
          <a:xfrm>
            <a:off x="3218688" y="21378672"/>
            <a:ext cx="9034272" cy="1335024"/>
          </a:xfrm>
          <a:prstGeom prst="rect">
            <a:avLst/>
          </a:prstGeom>
          <a:solidFill>
            <a:srgbClr val="E8F4FA"/>
          </a:solidFill>
          <a:ln w="12700">
            <a:solidFill>
              <a:srgbClr val="B8D0E8"/>
            </a:solidFill>
            <a:prstDash val="solid"/>
          </a:ln>
        </p:spPr>
      </p:sp>
      <p:sp>
        <p:nvSpPr>
          <p:cNvPr id="40" name="Text 38"/>
          <p:cNvSpPr/>
          <p:nvPr/>
        </p:nvSpPr>
        <p:spPr>
          <a:xfrm>
            <a:off x="3383280" y="2137867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Σʙₒˣ,ₖ (Σ₍ᵢ,ⱼ₎∈ʙₒˣ xᵢⱼₖ − 1)²  —  </a:t>
            </a:r>
            <a:pPr algn="l" indent="0" marL="0">
              <a:buNone/>
            </a:pPr>
            <a:r>
              <a:rPr lang="en-US" sz="2400" i="1" dirty="0">
                <a:solidFill>
                  <a:srgbClr val="3D4F60"/>
                </a:solidFill>
              </a:rPr>
              <a:t>each digit appears once per √N×√N box</a:t>
            </a:r>
            <a:endParaRPr lang="en-US" sz="3400" dirty="0"/>
          </a:p>
        </p:txBody>
      </p:sp>
      <p:sp>
        <p:nvSpPr>
          <p:cNvPr id="41" name="Shape 39"/>
          <p:cNvSpPr/>
          <p:nvPr/>
        </p:nvSpPr>
        <p:spPr>
          <a:xfrm>
            <a:off x="731520" y="22933152"/>
            <a:ext cx="11521440" cy="1115568"/>
          </a:xfrm>
          <a:prstGeom prst="rect">
            <a:avLst/>
          </a:prstGeom>
          <a:solidFill>
            <a:srgbClr val="0D1B4B"/>
          </a:solidFill>
          <a:ln w="25400">
            <a:solidFill>
              <a:srgbClr val="00B4D8"/>
            </a:solidFill>
            <a:prstDash val="solid"/>
          </a:ln>
        </p:spPr>
      </p:sp>
      <p:sp>
        <p:nvSpPr>
          <p:cNvPr id="42" name="Text 40"/>
          <p:cNvSpPr/>
          <p:nvPr/>
        </p:nvSpPr>
        <p:spPr>
          <a:xfrm>
            <a:off x="868680" y="22933152"/>
            <a:ext cx="11338560" cy="1115568"/>
          </a:xfrm>
          <a:prstGeom prst="rect">
            <a:avLst/>
          </a:prstGeom>
          <a:noFill/>
          <a:ln/>
        </p:spPr>
        <p:txBody>
          <a:bodyPr wrap="square" lIns="0" tIns="0" rIns="0" bIns="0" rtlCol="0" anchor="ctr"/>
          <a:lstStyle/>
          <a:p>
            <a:pPr algn="l" indent="0" marL="0">
              <a:buNone/>
            </a:pPr>
            <a:r>
              <a:rPr lang="en-US" sz="2100" b="1" dirty="0">
                <a:solidFill>
                  <a:srgbClr val="00B4D8"/>
                </a:solidFill>
              </a:rPr>
              <a:t>Matrix entries: </a:t>
            </a:r>
            <a:pPr algn="l" indent="0" marL="0">
              <a:buNone/>
            </a:pPr>
            <a:r>
              <a:rPr lang="en-US" sz="2100" dirty="0">
                <a:solidFill>
                  <a:srgbClr val="FFFFFF"/>
                </a:solidFill>
              </a:rPr>
              <a:t>diagonal −1 · off-diagonal (conflicting vars) +2 · </a:t>
            </a:r>
            <a:pPr algn="l" indent="0" marL="0">
              <a:buNone/>
            </a:pPr>
            <a:r>
              <a:rPr lang="en-US" sz="2100" b="1" dirty="0">
                <a:solidFill>
                  <a:srgbClr val="00B4D8"/>
                </a:solidFill>
              </a:rPr>
              <a:t>4×4:</a:t>
            </a:r>
            <a:pPr algn="l" indent="0" marL="0">
              <a:buNone/>
            </a:pPr>
            <a:r>
              <a:rPr lang="en-US" sz="2100" dirty="0">
                <a:solidFill>
                  <a:srgbClr val="FFFFFF"/>
                </a:solidFill>
              </a:rPr>
              <a:t> 64×64 Q · </a:t>
            </a:r>
            <a:pPr algn="l" indent="0" marL="0">
              <a:buNone/>
            </a:pPr>
            <a:r>
              <a:rPr lang="en-US" sz="2100" b="1" dirty="0">
                <a:solidFill>
                  <a:srgbClr val="00B4D8"/>
                </a:solidFill>
              </a:rPr>
              <a:t>9×9:</a:t>
            </a:r>
            <a:pPr algn="l" indent="0" marL="0">
              <a:buNone/>
            </a:pPr>
            <a:r>
              <a:rPr lang="en-US" sz="2100" dirty="0">
                <a:solidFill>
                  <a:srgbClr val="FFFFFF"/>
                </a:solidFill>
              </a:rPr>
              <a:t> 459×459 Q (30 given cells eliminated = 270 vars) · ≤28 non-zero off-diagonals per variable</a:t>
            </a:r>
            <a:endParaRPr lang="en-US" sz="2100" dirty="0"/>
          </a:p>
        </p:txBody>
      </p:sp>
      <p:sp>
        <p:nvSpPr>
          <p:cNvPr id="43" name="Text 41"/>
          <p:cNvSpPr/>
          <p:nvPr/>
        </p:nvSpPr>
        <p:spPr>
          <a:xfrm>
            <a:off x="731520" y="24121872"/>
            <a:ext cx="11521440" cy="347472"/>
          </a:xfrm>
          <a:prstGeom prst="rect">
            <a:avLst/>
          </a:prstGeom>
          <a:noFill/>
          <a:ln/>
        </p:spPr>
        <p:txBody>
          <a:bodyPr wrap="square" lIns="0" tIns="0" rIns="0" bIns="0" rtlCol="0" anchor="ctr"/>
          <a:lstStyle/>
          <a:p>
            <a:pPr algn="l" indent="0" marL="0">
              <a:buNone/>
            </a:pPr>
            <a:r>
              <a:rPr lang="en-US" sz="1800" i="1" dirty="0">
                <a:solidFill>
                  <a:srgbClr val="3D4F60"/>
                </a:solidFill>
              </a:rPr>
              <a:t>λ₁=λ₂=λ₃=λ₄=1.0  (Lagrange multipliers, all equal — penalty weight tuning is a future direction)</a:t>
            </a:r>
            <a:endParaRPr lang="en-US" sz="1800" dirty="0"/>
          </a:p>
        </p:txBody>
      </p:sp>
      <p:sp>
        <p:nvSpPr>
          <p:cNvPr id="44" name="Shape 42"/>
          <p:cNvSpPr/>
          <p:nvPr/>
        </p:nvSpPr>
        <p:spPr>
          <a:xfrm>
            <a:off x="548640" y="24917400"/>
            <a:ext cx="11887200" cy="6400800"/>
          </a:xfrm>
          <a:prstGeom prst="rect">
            <a:avLst/>
          </a:prstGeom>
          <a:solidFill>
            <a:srgbClr val="FFFFFF"/>
          </a:solidFill>
          <a:ln w="19050">
            <a:solidFill>
              <a:srgbClr val="B8D0E8"/>
            </a:solidFill>
            <a:prstDash val="solid"/>
          </a:ln>
        </p:spPr>
      </p:sp>
      <p:sp>
        <p:nvSpPr>
          <p:cNvPr id="45" name="Shape 43"/>
          <p:cNvSpPr/>
          <p:nvPr/>
        </p:nvSpPr>
        <p:spPr>
          <a:xfrm>
            <a:off x="548640" y="24917400"/>
            <a:ext cx="11887200" cy="566928"/>
          </a:xfrm>
          <a:prstGeom prst="rect">
            <a:avLst/>
          </a:prstGeom>
          <a:solidFill>
            <a:srgbClr val="0077A8"/>
          </a:solidFill>
          <a:ln w="12700">
            <a:solidFill>
              <a:srgbClr val="0077A8"/>
            </a:solidFill>
            <a:prstDash val="solid"/>
          </a:ln>
        </p:spPr>
      </p:sp>
      <p:sp>
        <p:nvSpPr>
          <p:cNvPr id="46" name="Text 44"/>
          <p:cNvSpPr/>
          <p:nvPr/>
        </p:nvSpPr>
        <p:spPr>
          <a:xfrm>
            <a:off x="713232" y="249174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ONE-HOT ENCODING</a:t>
            </a:r>
            <a:endParaRPr lang="en-US" sz="2600" dirty="0"/>
          </a:p>
        </p:txBody>
      </p:sp>
      <p:pic>
        <p:nvPicPr>
          <p:cNvPr id="47" name="Image 0" descr="figures/vectorized/fig2_cropped.png"/>
          <p:cNvPicPr>
            <a:picLocks noChangeAspect="1"/>
          </p:cNvPicPr>
          <p:nvPr/>
        </p:nvPicPr>
        <p:blipFill>
          <a:blip r:embed="rId1"/>
          <a:stretch>
            <a:fillRect/>
          </a:stretch>
        </p:blipFill>
        <p:spPr>
          <a:xfrm>
            <a:off x="1649717" y="25603200"/>
            <a:ext cx="9685046" cy="5513832"/>
          </a:xfrm>
          <a:prstGeom prst="rect">
            <a:avLst/>
          </a:prstGeom>
        </p:spPr>
      </p:pic>
      <p:sp>
        <p:nvSpPr>
          <p:cNvPr id="48" name="Shape 45"/>
          <p:cNvSpPr/>
          <p:nvPr/>
        </p:nvSpPr>
        <p:spPr>
          <a:xfrm>
            <a:off x="13030200" y="4206240"/>
            <a:ext cx="11887200" cy="6400800"/>
          </a:xfrm>
          <a:prstGeom prst="rect">
            <a:avLst/>
          </a:prstGeom>
          <a:solidFill>
            <a:srgbClr val="E8F4FA"/>
          </a:solidFill>
          <a:ln w="19050">
            <a:solidFill>
              <a:srgbClr val="B8D0E8"/>
            </a:solidFill>
            <a:prstDash val="solid"/>
          </a:ln>
        </p:spPr>
      </p:sp>
      <p:sp>
        <p:nvSpPr>
          <p:cNvPr id="49" name="Shape 46"/>
          <p:cNvSpPr/>
          <p:nvPr/>
        </p:nvSpPr>
        <p:spPr>
          <a:xfrm>
            <a:off x="13030200" y="4206240"/>
            <a:ext cx="11887200" cy="566928"/>
          </a:xfrm>
          <a:prstGeom prst="rect">
            <a:avLst/>
          </a:prstGeom>
          <a:solidFill>
            <a:srgbClr val="0077A8"/>
          </a:solidFill>
          <a:ln w="12700">
            <a:solidFill>
              <a:srgbClr val="0077A8"/>
            </a:solidFill>
            <a:prstDash val="solid"/>
          </a:ln>
        </p:spPr>
      </p:sp>
      <p:sp>
        <p:nvSpPr>
          <p:cNvPr id="50" name="Text 47"/>
          <p:cNvSpPr/>
          <p:nvPr/>
        </p:nvSpPr>
        <p:spPr>
          <a:xfrm>
            <a:off x="13194792" y="420624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METHODOLOGY</a:t>
            </a:r>
            <a:endParaRPr lang="en-US" sz="2600" dirty="0"/>
          </a:p>
        </p:txBody>
      </p:sp>
      <p:pic>
        <p:nvPicPr>
          <p:cNvPr id="51" name="Image 1" descr="figures/vectorized/dwave_qpu_box.jpg"/>
          <p:cNvPicPr>
            <a:picLocks noChangeAspect="1"/>
          </p:cNvPicPr>
          <p:nvPr/>
        </p:nvPicPr>
        <p:blipFill>
          <a:blip r:embed="rId2"/>
          <a:stretch>
            <a:fillRect/>
          </a:stretch>
        </p:blipFill>
        <p:spPr>
          <a:xfrm>
            <a:off x="18105120" y="5221224"/>
            <a:ext cx="6583680" cy="4370832"/>
          </a:xfrm>
          <a:prstGeom prst="rect">
            <a:avLst/>
          </a:prstGeom>
        </p:spPr>
      </p:pic>
      <p:sp>
        <p:nvSpPr>
          <p:cNvPr id="52" name="Text 48"/>
          <p:cNvSpPr/>
          <p:nvPr/>
        </p:nvSpPr>
        <p:spPr>
          <a:xfrm>
            <a:off x="18105120" y="9683496"/>
            <a:ext cx="6583680" cy="347472"/>
          </a:xfrm>
          <a:prstGeom prst="rect">
            <a:avLst/>
          </a:prstGeom>
          <a:noFill/>
          <a:ln/>
        </p:spPr>
        <p:txBody>
          <a:bodyPr wrap="square" lIns="0" tIns="0" rIns="0" bIns="0" rtlCol="0" anchor="ctr"/>
          <a:lstStyle/>
          <a:p>
            <a:pPr algn="ctr" indent="0" marL="0">
              <a:buNone/>
            </a:pPr>
            <a:r>
              <a:rPr lang="en-US" sz="1700" i="1" dirty="0">
                <a:solidFill>
                  <a:srgbClr val="3D4F60"/>
                </a:solidFill>
              </a:rPr>
              <a:t>D-Wave Advantage2</a:t>
            </a:r>
            <a:endParaRPr lang="en-US" sz="1700" dirty="0"/>
          </a:p>
        </p:txBody>
      </p:sp>
      <p:sp>
        <p:nvSpPr>
          <p:cNvPr id="53" name="Text 49"/>
          <p:cNvSpPr/>
          <p:nvPr/>
        </p:nvSpPr>
        <p:spPr>
          <a:xfrm>
            <a:off x="13213080" y="4709160"/>
            <a:ext cx="4754880" cy="5623560"/>
          </a:xfrm>
          <a:prstGeom prst="rect">
            <a:avLst/>
          </a:prstGeom>
          <a:noFill/>
          <a:ln/>
        </p:spPr>
        <p:txBody>
          <a:bodyPr wrap="square" rtlCol="0" anchor="t"/>
          <a:lstStyle/>
          <a:p>
            <a:pPr algn="l" indent="0" marL="0">
              <a:buNone/>
            </a:pPr>
            <a:r>
              <a:rPr lang="en-US" sz="2200" b="1" dirty="0">
                <a:solidFill>
                  <a:srgbClr val="000000"/>
                </a:solidFill>
              </a:rPr>
              <a:t>Solvers Evaluated</a:t>
            </a:r>
            <a:endParaRPr lang="en-US" sz="2200" dirty="0"/>
          </a:p>
          <a:p>
            <a:pPr algn="l" indent="0" marL="0">
              <a:buNone/>
            </a:pPr>
            <a:r>
              <a:rPr lang="en-US" sz="1900" dirty="0">
                <a:solidFill>
                  <a:srgbClr val="000000"/>
                </a:solidFill>
              </a:rPr>
              <a:t>• Simulated Annealing (D-Wave neal)
  100 reads, 1000 sweeps
</a:t>
            </a:r>
            <a:endParaRPr lang="en-US" sz="2200" dirty="0"/>
          </a:p>
          <a:p>
            <a:pPr algn="l" indent="0" marL="0">
              <a:buNone/>
            </a:pPr>
            <a:r>
              <a:rPr lang="en-US" sz="1900" dirty="0">
                <a:solidFill>
                  <a:srgbClr val="000000"/>
                </a:solidFill>
              </a:rPr>
              <a:t>• D-Wave Leap Hybrid BQM v2.2
</a:t>
            </a:r>
            <a:endParaRPr lang="en-US" sz="2200" dirty="0"/>
          </a:p>
          <a:p>
            <a:pPr algn="l" indent="0" marL="0">
              <a:buNone/>
            </a:pPr>
            <a:r>
              <a:rPr lang="en-US" sz="1900" dirty="0">
                <a:solidFill>
                  <a:srgbClr val="000000"/>
                </a:solidFill>
              </a:rPr>
              <a:t>• D-Wave Advantage2 QPU
  1,000 reads · 200 µs · forward annealing
</a:t>
            </a:r>
            <a:endParaRPr lang="en-US" sz="2200" dirty="0"/>
          </a:p>
          <a:p>
            <a:pPr algn="l" indent="0" marL="0">
              <a:buNone/>
            </a:pPr>
            <a:r>
              <a:rPr lang="en-US" sz="1900" dirty="0">
                <a:solidFill>
                  <a:srgbClr val="000000"/>
                </a:solidFill>
              </a:rPr>
              <a:t>• QAOA (Qiskit) — 2×2 only; circuit depth prohibitive at 4×4 scale — excluded from results (p=2, 2048 shots, COBYLA)
</a:t>
            </a:r>
            <a:endParaRPr lang="en-US" sz="2200" dirty="0"/>
          </a:p>
          <a:p>
            <a:pPr algn="l" indent="0" marL="0">
              <a:buNone/>
            </a:pPr>
            <a:r>
              <a:rPr lang="en-US" sz="2200" b="1" dirty="0">
                <a:solidFill>
                  <a:srgbClr val="000000"/>
                </a:solidFill>
              </a:rPr>
              <a:t>Test Instances</a:t>
            </a:r>
            <a:endParaRPr lang="en-US" sz="2200" dirty="0"/>
          </a:p>
          <a:p>
            <a:pPr algn="l" indent="0" marL="0">
              <a:buNone/>
            </a:pPr>
            <a:r>
              <a:rPr lang="en-US" sz="1900" dirty="0">
                <a:solidFill>
                  <a:srgbClr val="000000"/>
                </a:solidFill>
              </a:rPr>
              <a:t>• 4×4 (no givens, 64 vars) — QUBO correctness baseline
</a:t>
            </a:r>
            <a:endParaRPr lang="en-US" sz="2200" dirty="0"/>
          </a:p>
          <a:p>
            <a:pPr algn="l" indent="0" marL="0">
              <a:buNone/>
            </a:pPr>
            <a:r>
              <a:rPr lang="en-US" sz="1900" dirty="0">
                <a:solidFill>
                  <a:srgbClr val="000000"/>
                </a:solidFill>
              </a:rPr>
              <a:t>• 9×9 Easy→Hard: 30/25/17 givens → 459/504/576 free vars (17 = min unique)</a:t>
            </a:r>
            <a:endParaRPr lang="en-US" sz="2200" dirty="0"/>
          </a:p>
        </p:txBody>
      </p:sp>
      <p:sp>
        <p:nvSpPr>
          <p:cNvPr id="54" name="Shape 50"/>
          <p:cNvSpPr/>
          <p:nvPr/>
        </p:nvSpPr>
        <p:spPr>
          <a:xfrm>
            <a:off x="13030200" y="10789920"/>
            <a:ext cx="11887200" cy="8229600"/>
          </a:xfrm>
          <a:prstGeom prst="rect">
            <a:avLst/>
          </a:prstGeom>
          <a:solidFill>
            <a:srgbClr val="FFFFFF"/>
          </a:solidFill>
          <a:ln w="19050">
            <a:solidFill>
              <a:srgbClr val="B8D0E8"/>
            </a:solidFill>
            <a:prstDash val="solid"/>
          </a:ln>
        </p:spPr>
      </p:sp>
      <p:sp>
        <p:nvSpPr>
          <p:cNvPr id="55" name="Shape 51"/>
          <p:cNvSpPr/>
          <p:nvPr/>
        </p:nvSpPr>
        <p:spPr>
          <a:xfrm>
            <a:off x="13030200" y="10789920"/>
            <a:ext cx="11887200" cy="566928"/>
          </a:xfrm>
          <a:prstGeom prst="rect">
            <a:avLst/>
          </a:prstGeom>
          <a:solidFill>
            <a:srgbClr val="0077A8"/>
          </a:solidFill>
          <a:ln w="12700">
            <a:solidFill>
              <a:srgbClr val="0077A8"/>
            </a:solidFill>
            <a:prstDash val="solid"/>
          </a:ln>
        </p:spPr>
      </p:sp>
      <p:sp>
        <p:nvSpPr>
          <p:cNvPr id="56" name="Text 52"/>
          <p:cNvSpPr/>
          <p:nvPr/>
        </p:nvSpPr>
        <p:spPr>
          <a:xfrm>
            <a:off x="13194792" y="1078992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SUDOKU TEST PUZZLES (9×9 EASY &amp; HARD)</a:t>
            </a:r>
            <a:endParaRPr lang="en-US" sz="2600" dirty="0"/>
          </a:p>
        </p:txBody>
      </p:sp>
      <p:pic>
        <p:nvPicPr>
          <p:cNvPr id="57" name="Image 2" descr="figures/vectorized/fig1_2puzzles.png"/>
          <p:cNvPicPr>
            <a:picLocks noChangeAspect="1"/>
          </p:cNvPicPr>
          <p:nvPr/>
        </p:nvPicPr>
        <p:blipFill>
          <a:blip r:embed="rId3"/>
          <a:stretch>
            <a:fillRect/>
          </a:stretch>
        </p:blipFill>
        <p:spPr>
          <a:xfrm>
            <a:off x="13358522" y="11475720"/>
            <a:ext cx="11230556" cy="7342632"/>
          </a:xfrm>
          <a:prstGeom prst="rect">
            <a:avLst/>
          </a:prstGeom>
        </p:spPr>
      </p:pic>
      <p:sp>
        <p:nvSpPr>
          <p:cNvPr id="58" name="Shape 53"/>
          <p:cNvSpPr/>
          <p:nvPr/>
        </p:nvSpPr>
        <p:spPr>
          <a:xfrm>
            <a:off x="13030200" y="19202400"/>
            <a:ext cx="11887200" cy="12115800"/>
          </a:xfrm>
          <a:prstGeom prst="rect">
            <a:avLst/>
          </a:prstGeom>
          <a:solidFill>
            <a:srgbClr val="FFFFFF"/>
          </a:solidFill>
          <a:ln w="19050">
            <a:solidFill>
              <a:srgbClr val="B8D0E8"/>
            </a:solidFill>
            <a:prstDash val="solid"/>
          </a:ln>
        </p:spPr>
      </p:sp>
      <p:sp>
        <p:nvSpPr>
          <p:cNvPr id="59" name="Shape 54"/>
          <p:cNvSpPr/>
          <p:nvPr/>
        </p:nvSpPr>
        <p:spPr>
          <a:xfrm>
            <a:off x="13030200" y="19202400"/>
            <a:ext cx="11887200" cy="566928"/>
          </a:xfrm>
          <a:prstGeom prst="rect">
            <a:avLst/>
          </a:prstGeom>
          <a:solidFill>
            <a:srgbClr val="0077A8"/>
          </a:solidFill>
          <a:ln w="12700">
            <a:solidFill>
              <a:srgbClr val="0077A8"/>
            </a:solidFill>
            <a:prstDash val="solid"/>
          </a:ln>
        </p:spPr>
      </p:sp>
      <p:sp>
        <p:nvSpPr>
          <p:cNvPr id="60" name="Text 55"/>
          <p:cNvSpPr/>
          <p:nvPr/>
        </p:nvSpPr>
        <p:spPr>
          <a:xfrm>
            <a:off x="13194792" y="192024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VARIABLE REDUCTION VIA GIVEN-CELL ELIMINATION</a:t>
            </a:r>
            <a:endParaRPr lang="en-US" sz="2600" dirty="0"/>
          </a:p>
        </p:txBody>
      </p:sp>
      <p:pic>
        <p:nvPicPr>
          <p:cNvPr id="61" name="Image 3" descr="figures/vectorized/fig3_cropped.png"/>
          <p:cNvPicPr>
            <a:picLocks noChangeAspect="1"/>
          </p:cNvPicPr>
          <p:nvPr/>
        </p:nvPicPr>
        <p:blipFill>
          <a:blip r:embed="rId4"/>
          <a:stretch>
            <a:fillRect/>
          </a:stretch>
        </p:blipFill>
        <p:spPr>
          <a:xfrm>
            <a:off x="13139928" y="20855223"/>
            <a:ext cx="11667744" cy="9294785"/>
          </a:xfrm>
          <a:prstGeom prst="rect">
            <a:avLst/>
          </a:prstGeom>
        </p:spPr>
      </p:pic>
      <p:sp>
        <p:nvSpPr>
          <p:cNvPr id="62" name="Shape 56"/>
          <p:cNvSpPr/>
          <p:nvPr/>
        </p:nvSpPr>
        <p:spPr>
          <a:xfrm>
            <a:off x="25511760" y="4206240"/>
            <a:ext cx="11887200" cy="5029200"/>
          </a:xfrm>
          <a:prstGeom prst="rect">
            <a:avLst/>
          </a:prstGeom>
          <a:solidFill>
            <a:srgbClr val="FFFFFF"/>
          </a:solidFill>
          <a:ln w="19050">
            <a:solidFill>
              <a:srgbClr val="B8D0E8"/>
            </a:solidFill>
            <a:prstDash val="solid"/>
          </a:ln>
        </p:spPr>
      </p:sp>
      <p:sp>
        <p:nvSpPr>
          <p:cNvPr id="63" name="Shape 57"/>
          <p:cNvSpPr/>
          <p:nvPr/>
        </p:nvSpPr>
        <p:spPr>
          <a:xfrm>
            <a:off x="25511760" y="4206240"/>
            <a:ext cx="11887200" cy="566928"/>
          </a:xfrm>
          <a:prstGeom prst="rect">
            <a:avLst/>
          </a:prstGeom>
          <a:solidFill>
            <a:srgbClr val="0077A8"/>
          </a:solidFill>
          <a:ln w="12700">
            <a:solidFill>
              <a:srgbClr val="0077A8"/>
            </a:solidFill>
            <a:prstDash val="solid"/>
          </a:ln>
        </p:spPr>
      </p:sp>
      <p:sp>
        <p:nvSpPr>
          <p:cNvPr id="64" name="Text 58"/>
          <p:cNvSpPr/>
          <p:nvPr/>
        </p:nvSpPr>
        <p:spPr>
          <a:xfrm>
            <a:off x="25676352" y="420624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RESULTS: D-WAVE QPU VS. SIMULATED ANNEALING  (4×4 Sudoku)</a:t>
            </a:r>
            <a:endParaRPr lang="en-US" sz="2600" dirty="0"/>
          </a:p>
        </p:txBody>
      </p:sp>
      <p:pic>
        <p:nvPicPr>
          <p:cNvPr id="65" name="Image 4" descr="figures/vectorized/fig5_cropped.png"/>
          <p:cNvPicPr>
            <a:picLocks noChangeAspect="1"/>
          </p:cNvPicPr>
          <p:nvPr/>
        </p:nvPicPr>
        <p:blipFill>
          <a:blip r:embed="rId5"/>
          <a:stretch>
            <a:fillRect/>
          </a:stretch>
        </p:blipFill>
        <p:spPr>
          <a:xfrm>
            <a:off x="25621488" y="4989186"/>
            <a:ext cx="11667744" cy="3947941"/>
          </a:xfrm>
          <a:prstGeom prst="rect">
            <a:avLst/>
          </a:prstGeom>
        </p:spPr>
      </p:pic>
      <p:sp>
        <p:nvSpPr>
          <p:cNvPr id="66" name="Shape 59"/>
          <p:cNvSpPr/>
          <p:nvPr/>
        </p:nvSpPr>
        <p:spPr>
          <a:xfrm>
            <a:off x="25511760" y="9418320"/>
            <a:ext cx="11887200" cy="9144000"/>
          </a:xfrm>
          <a:prstGeom prst="rect">
            <a:avLst/>
          </a:prstGeom>
          <a:solidFill>
            <a:srgbClr val="FFFFFF"/>
          </a:solidFill>
          <a:ln w="19050">
            <a:solidFill>
              <a:srgbClr val="B8D0E8"/>
            </a:solidFill>
            <a:prstDash val="solid"/>
          </a:ln>
        </p:spPr>
      </p:sp>
      <p:sp>
        <p:nvSpPr>
          <p:cNvPr id="67" name="Shape 60"/>
          <p:cNvSpPr/>
          <p:nvPr/>
        </p:nvSpPr>
        <p:spPr>
          <a:xfrm>
            <a:off x="25511760" y="9418320"/>
            <a:ext cx="11887200" cy="566928"/>
          </a:xfrm>
          <a:prstGeom prst="rect">
            <a:avLst/>
          </a:prstGeom>
          <a:solidFill>
            <a:srgbClr val="0077A8"/>
          </a:solidFill>
          <a:ln w="12700">
            <a:solidFill>
              <a:srgbClr val="0077A8"/>
            </a:solidFill>
            <a:prstDash val="solid"/>
          </a:ln>
        </p:spPr>
      </p:sp>
      <p:sp>
        <p:nvSpPr>
          <p:cNvPr id="68" name="Text 61"/>
          <p:cNvSpPr/>
          <p:nvPr/>
        </p:nvSpPr>
        <p:spPr>
          <a:xfrm>
            <a:off x="25676352" y="941832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QUBO COEFFICIENT MATRIX (4×4 SUDOKU, 64×64)</a:t>
            </a:r>
            <a:endParaRPr lang="en-US" sz="2600" dirty="0"/>
          </a:p>
        </p:txBody>
      </p:sp>
      <p:pic>
        <p:nvPicPr>
          <p:cNvPr id="69" name="Image 5" descr="figures/vectorized/fig4_qubo_matrix_hires-1.png"/>
          <p:cNvPicPr>
            <a:picLocks noChangeAspect="1"/>
          </p:cNvPicPr>
          <p:nvPr/>
        </p:nvPicPr>
        <p:blipFill>
          <a:blip r:embed="rId6"/>
          <a:stretch>
            <a:fillRect/>
          </a:stretch>
        </p:blipFill>
        <p:spPr>
          <a:xfrm>
            <a:off x="27017205" y="10104120"/>
            <a:ext cx="8876309" cy="8257032"/>
          </a:xfrm>
          <a:prstGeom prst="rect">
            <a:avLst/>
          </a:prstGeom>
        </p:spPr>
      </p:pic>
      <p:sp>
        <p:nvSpPr>
          <p:cNvPr id="70" name="Shape 62"/>
          <p:cNvSpPr/>
          <p:nvPr/>
        </p:nvSpPr>
        <p:spPr>
          <a:xfrm>
            <a:off x="25511760" y="18745200"/>
            <a:ext cx="11887200" cy="4572000"/>
          </a:xfrm>
          <a:prstGeom prst="rect">
            <a:avLst/>
          </a:prstGeom>
          <a:solidFill>
            <a:srgbClr val="E8F4FA"/>
          </a:solidFill>
          <a:ln w="19050">
            <a:solidFill>
              <a:srgbClr val="B8D0E8"/>
            </a:solidFill>
            <a:prstDash val="solid"/>
          </a:ln>
        </p:spPr>
      </p:sp>
      <p:sp>
        <p:nvSpPr>
          <p:cNvPr id="71" name="Shape 63"/>
          <p:cNvSpPr/>
          <p:nvPr/>
        </p:nvSpPr>
        <p:spPr>
          <a:xfrm>
            <a:off x="25511760" y="18745200"/>
            <a:ext cx="11887200" cy="566928"/>
          </a:xfrm>
          <a:prstGeom prst="rect">
            <a:avLst/>
          </a:prstGeom>
          <a:solidFill>
            <a:srgbClr val="3D4F60"/>
          </a:solidFill>
          <a:ln w="12700">
            <a:solidFill>
              <a:srgbClr val="3D4F60"/>
            </a:solidFill>
            <a:prstDash val="solid"/>
          </a:ln>
        </p:spPr>
      </p:sp>
      <p:sp>
        <p:nvSpPr>
          <p:cNvPr id="72" name="Text 64"/>
          <p:cNvSpPr/>
          <p:nvPr/>
        </p:nvSpPr>
        <p:spPr>
          <a:xfrm>
            <a:off x="25676352" y="187452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KEY OBSERVATIONS</a:t>
            </a:r>
            <a:endParaRPr lang="en-US" sz="2600" dirty="0"/>
          </a:p>
        </p:txBody>
      </p:sp>
      <p:sp>
        <p:nvSpPr>
          <p:cNvPr id="73" name="Text 65"/>
          <p:cNvSpPr/>
          <p:nvPr/>
        </p:nvSpPr>
        <p:spPr>
          <a:xfrm>
            <a:off x="25712928" y="19403568"/>
            <a:ext cx="502920" cy="764438"/>
          </a:xfrm>
          <a:prstGeom prst="rect">
            <a:avLst/>
          </a:prstGeom>
          <a:noFill/>
          <a:ln/>
        </p:spPr>
        <p:txBody>
          <a:bodyPr wrap="square" lIns="0" tIns="0" rIns="0" bIns="0" rtlCol="0" anchor="ctr"/>
          <a:lstStyle/>
          <a:p>
            <a:pPr algn="ctr" indent="0" marL="0">
              <a:buNone/>
            </a:pPr>
            <a:r>
              <a:rPr lang="en-US" sz="2200" dirty="0">
                <a:solidFill>
                  <a:srgbClr val="1A7A3C"/>
                </a:solidFill>
              </a:rPr>
              <a:t>✅</a:t>
            </a:r>
            <a:endParaRPr lang="en-US" sz="2200" dirty="0"/>
          </a:p>
        </p:txBody>
      </p:sp>
      <p:sp>
        <p:nvSpPr>
          <p:cNvPr id="74" name="Text 66"/>
          <p:cNvSpPr/>
          <p:nvPr/>
        </p:nvSpPr>
        <p:spPr>
          <a:xfrm>
            <a:off x="26261568" y="19403568"/>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SA degrades sharply with scale: 99% on blank 4×4 (64 vars) → 7% on 9×9 Easy (459 vars, 30 givens) — 7× more variables, 14× lower success. Note: baselines differ (blank 4×4 vs. given-reduced 9×9); SA's collapse is likely understated on a fully blank 9×9.</a:t>
            </a:r>
            <a:endParaRPr lang="en-US" sz="1800" dirty="0"/>
          </a:p>
        </p:txBody>
      </p:sp>
      <p:sp>
        <p:nvSpPr>
          <p:cNvPr id="75" name="Text 67"/>
          <p:cNvSpPr/>
          <p:nvPr/>
        </p:nvSpPr>
        <p:spPr>
          <a:xfrm>
            <a:off x="25712928" y="20168006"/>
            <a:ext cx="502920" cy="764438"/>
          </a:xfrm>
          <a:prstGeom prst="rect">
            <a:avLst/>
          </a:prstGeom>
          <a:noFill/>
          <a:ln/>
        </p:spPr>
        <p:txBody>
          <a:bodyPr wrap="square" lIns="0" tIns="0" rIns="0" bIns="0" rtlCol="0" anchor="ctr"/>
          <a:lstStyle/>
          <a:p>
            <a:pPr algn="ctr" indent="0" marL="0">
              <a:buNone/>
            </a:pPr>
            <a:r>
              <a:rPr lang="en-US" sz="2200" dirty="0">
                <a:solidFill>
                  <a:srgbClr val="0077A8"/>
                </a:solidFill>
              </a:rPr>
              <a:t>⚡</a:t>
            </a:r>
            <a:endParaRPr lang="en-US" sz="2200" dirty="0"/>
          </a:p>
        </p:txBody>
      </p:sp>
      <p:sp>
        <p:nvSpPr>
          <p:cNvPr id="76" name="Text 68"/>
          <p:cNvSpPr/>
          <p:nvPr/>
        </p:nvSpPr>
        <p:spPr>
          <a:xfrm>
            <a:off x="26261568" y="20168006"/>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QPU on 4×4: 100% Easy · 99.4% Medium · 76.1% ± 12.7% Hard — confirms the QUBO formulation produces valid Sudoku solutions on real quantum hardware.</a:t>
            </a:r>
            <a:endParaRPr lang="en-US" sz="1800" dirty="0"/>
          </a:p>
        </p:txBody>
      </p:sp>
      <p:sp>
        <p:nvSpPr>
          <p:cNvPr id="77" name="Text 69"/>
          <p:cNvSpPr/>
          <p:nvPr/>
        </p:nvSpPr>
        <p:spPr>
          <a:xfrm>
            <a:off x="25712928" y="20932445"/>
            <a:ext cx="502920" cy="764438"/>
          </a:xfrm>
          <a:prstGeom prst="rect">
            <a:avLst/>
          </a:prstGeom>
          <a:noFill/>
          <a:ln/>
        </p:spPr>
        <p:txBody>
          <a:bodyPr wrap="square" lIns="0" tIns="0" rIns="0" bIns="0" rtlCol="0" anchor="ctr"/>
          <a:lstStyle/>
          <a:p>
            <a:pPr algn="ctr" indent="0" marL="0">
              <a:buNone/>
            </a:pPr>
            <a:r>
              <a:rPr lang="en-US" sz="2200" dirty="0">
                <a:solidFill>
                  <a:srgbClr val="C0392B"/>
                </a:solidFill>
              </a:rPr>
              <a:t>⚠</a:t>
            </a:r>
            <a:endParaRPr lang="en-US" sz="2200" dirty="0"/>
          </a:p>
        </p:txBody>
      </p:sp>
      <p:sp>
        <p:nvSpPr>
          <p:cNvPr id="78" name="Text 70"/>
          <p:cNvSpPr/>
          <p:nvPr/>
        </p:nvSpPr>
        <p:spPr>
          <a:xfrm>
            <a:off x="26261568" y="20932445"/>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SA outperforms QPU on 4×4 Hard (100% vs. 76.1%) — QPU struggles on the densest constraint instances even at small scale.</a:t>
            </a:r>
            <a:endParaRPr lang="en-US" sz="1800" dirty="0"/>
          </a:p>
        </p:txBody>
      </p:sp>
      <p:sp>
        <p:nvSpPr>
          <p:cNvPr id="79" name="Text 71"/>
          <p:cNvSpPr/>
          <p:nvPr/>
        </p:nvSpPr>
        <p:spPr>
          <a:xfrm>
            <a:off x="25712928" y="21696883"/>
            <a:ext cx="502920" cy="764438"/>
          </a:xfrm>
          <a:prstGeom prst="rect">
            <a:avLst/>
          </a:prstGeom>
          <a:noFill/>
          <a:ln/>
        </p:spPr>
        <p:txBody>
          <a:bodyPr wrap="square" lIns="0" tIns="0" rIns="0" bIns="0" rtlCol="0" anchor="ctr"/>
          <a:lstStyle/>
          <a:p>
            <a:pPr algn="ctr" indent="0" marL="0">
              <a:buNone/>
            </a:pPr>
            <a:r>
              <a:rPr lang="en-US" sz="2200" dirty="0">
                <a:solidFill>
                  <a:srgbClr val="0077A8"/>
                </a:solidFill>
              </a:rPr>
              <a:t>✔</a:t>
            </a:r>
            <a:endParaRPr lang="en-US" sz="2200" dirty="0"/>
          </a:p>
        </p:txBody>
      </p:sp>
      <p:sp>
        <p:nvSpPr>
          <p:cNvPr id="80" name="Text 72"/>
          <p:cNvSpPr/>
          <p:nvPr/>
        </p:nvSpPr>
        <p:spPr>
          <a:xfrm>
            <a:off x="26261568" y="21696883"/>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Chain breaks: 0% on all 12 QPU experiments — the Pegasus topology embeds 4×4 Sudoku cleanly; Hard failures are an annealing quality issue, not a connectivity issue.</a:t>
            </a:r>
            <a:endParaRPr lang="en-US" sz="1800" dirty="0"/>
          </a:p>
        </p:txBody>
      </p:sp>
      <p:sp>
        <p:nvSpPr>
          <p:cNvPr id="81" name="Text 73"/>
          <p:cNvSpPr/>
          <p:nvPr/>
        </p:nvSpPr>
        <p:spPr>
          <a:xfrm>
            <a:off x="25712928" y="22461322"/>
            <a:ext cx="502920" cy="764438"/>
          </a:xfrm>
          <a:prstGeom prst="rect">
            <a:avLst/>
          </a:prstGeom>
          <a:noFill/>
          <a:ln/>
        </p:spPr>
        <p:txBody>
          <a:bodyPr wrap="square" lIns="0" tIns="0" rIns="0" bIns="0" rtlCol="0" anchor="ctr"/>
          <a:lstStyle/>
          <a:p>
            <a:pPr algn="ctr" indent="0" marL="0">
              <a:buNone/>
            </a:pPr>
            <a:r>
              <a:rPr lang="en-US" sz="2200" dirty="0">
                <a:solidFill>
                  <a:srgbClr val="3D4F60"/>
                </a:solidFill>
              </a:rPr>
              <a:t>⏱</a:t>
            </a:r>
            <a:endParaRPr lang="en-US" sz="2200" dirty="0"/>
          </a:p>
        </p:txBody>
      </p:sp>
      <p:sp>
        <p:nvSpPr>
          <p:cNvPr id="82" name="Text 74"/>
          <p:cNvSpPr/>
          <p:nvPr/>
        </p:nvSpPr>
        <p:spPr>
          <a:xfrm>
            <a:off x="26261568" y="22461322"/>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QPU access time: 337–352 ms per experiment — hardware overhead is modest; bottleneck is solution quality, not speed.</a:t>
            </a:r>
            <a:endParaRPr lang="en-US" sz="1800" dirty="0"/>
          </a:p>
        </p:txBody>
      </p:sp>
      <p:sp>
        <p:nvSpPr>
          <p:cNvPr id="83" name="Shape 75"/>
          <p:cNvSpPr/>
          <p:nvPr/>
        </p:nvSpPr>
        <p:spPr>
          <a:xfrm>
            <a:off x="25511760" y="23500080"/>
            <a:ext cx="11887200" cy="3977640"/>
          </a:xfrm>
          <a:prstGeom prst="rect">
            <a:avLst/>
          </a:prstGeom>
          <a:solidFill>
            <a:srgbClr val="E8F4FA"/>
          </a:solidFill>
          <a:ln w="19050">
            <a:solidFill>
              <a:srgbClr val="B8D0E8"/>
            </a:solidFill>
            <a:prstDash val="solid"/>
          </a:ln>
        </p:spPr>
      </p:sp>
      <p:sp>
        <p:nvSpPr>
          <p:cNvPr id="84" name="Shape 76"/>
          <p:cNvSpPr/>
          <p:nvPr/>
        </p:nvSpPr>
        <p:spPr>
          <a:xfrm>
            <a:off x="25511760" y="23500080"/>
            <a:ext cx="11887200" cy="566928"/>
          </a:xfrm>
          <a:prstGeom prst="rect">
            <a:avLst/>
          </a:prstGeom>
          <a:solidFill>
            <a:srgbClr val="0D1B4B"/>
          </a:solidFill>
          <a:ln w="12700">
            <a:solidFill>
              <a:srgbClr val="0D1B4B"/>
            </a:solidFill>
            <a:prstDash val="solid"/>
          </a:ln>
        </p:spPr>
      </p:sp>
      <p:sp>
        <p:nvSpPr>
          <p:cNvPr id="85" name="Text 77"/>
          <p:cNvSpPr/>
          <p:nvPr/>
        </p:nvSpPr>
        <p:spPr>
          <a:xfrm>
            <a:off x="25676352" y="2350008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CONCLUSIONS</a:t>
            </a:r>
            <a:endParaRPr lang="en-US" sz="2600" dirty="0"/>
          </a:p>
        </p:txBody>
      </p:sp>
      <p:sp>
        <p:nvSpPr>
          <p:cNvPr id="86" name="Text 78"/>
          <p:cNvSpPr/>
          <p:nvPr/>
        </p:nvSpPr>
        <p:spPr>
          <a:xfrm>
            <a:off x="25694640" y="24158448"/>
            <a:ext cx="11567160" cy="3227832"/>
          </a:xfrm>
          <a:prstGeom prst="rect">
            <a:avLst/>
          </a:prstGeom>
          <a:noFill/>
          <a:ln/>
        </p:spPr>
        <p:txBody>
          <a:bodyPr wrap="square" rtlCol="0" anchor="t"/>
          <a:lstStyle/>
          <a:p>
            <a:pPr algn="l" indent="0" marL="0">
              <a:buNone/>
            </a:pPr>
            <a:r>
              <a:rPr lang="en-US" sz="2000" dirty="0">
                <a:solidFill>
                  <a:srgbClr val="000000"/>
                </a:solidFill>
              </a:rPr>
              <a:t>• QUBO encoding is provably exact: E = 0 iff all four constraint types hold — validated on both 4×4 and 9×9.</a:t>
            </a:r>
            <a:endParaRPr lang="en-US" sz="2000" dirty="0"/>
          </a:p>
          <a:p>
            <a:pPr algn="l" indent="0" marL="0">
              <a:buNone/>
            </a:pPr>
            <a:r>
              <a:rPr lang="en-US" sz="2000" dirty="0">
                <a:solidFill>
                  <a:srgbClr val="000000"/>
                </a:solidFill>
              </a:rPr>
              <a:t>• SA drops from 99% (4×4 blank) to 7% (9×9 Easy) with a 7× variable increase — classical annealing does not scale.</a:t>
            </a:r>
            <a:endParaRPr lang="en-US" sz="2000" dirty="0"/>
          </a:p>
          <a:p>
            <a:pPr algn="l" indent="0" marL="0">
              <a:buNone/>
            </a:pPr>
            <a:r>
              <a:rPr lang="en-US" sz="2000" dirty="0">
                <a:solidFill>
                  <a:srgbClr val="000000"/>
                </a:solidFill>
              </a:rPr>
              <a:t>• QPU finds valid Sudoku on real hardware: 100% Easy, 99.4% Medium, 76.1% Hard on 4×4 instances.</a:t>
            </a:r>
            <a:endParaRPr lang="en-US" sz="2000" dirty="0"/>
          </a:p>
          <a:p>
            <a:pPr algn="l" indent="0" marL="0">
              <a:buNone/>
            </a:pPr>
            <a:r>
              <a:rPr lang="en-US" sz="2000" dirty="0">
                <a:solidFill>
                  <a:srgbClr val="000000"/>
                </a:solidFill>
              </a:rPr>
              <a:t>• SA beats QPU on 4×4 Hard (100% vs. 76.1%) despite 0% chain breaks — energy landscape complexity is the bottleneck, not embedding.</a:t>
            </a:r>
            <a:endParaRPr lang="en-US" sz="2000" dirty="0"/>
          </a:p>
          <a:p>
            <a:pPr algn="l" indent="0" marL="0">
              <a:buNone/>
            </a:pPr>
            <a:r>
              <a:rPr lang="en-US" sz="2000" dirty="0">
                <a:solidFill>
                  <a:srgbClr val="000000"/>
                </a:solidFill>
              </a:rPr>
              <a:t>• Direct 9×9 QPU benchmarking remains open — 4×4 Hard results motivate annealing schedule and encoding improvements first.</a:t>
            </a:r>
            <a:endParaRPr lang="en-US" sz="2000" dirty="0"/>
          </a:p>
        </p:txBody>
      </p:sp>
      <p:sp>
        <p:nvSpPr>
          <p:cNvPr id="87" name="Shape 79"/>
          <p:cNvSpPr/>
          <p:nvPr/>
        </p:nvSpPr>
        <p:spPr>
          <a:xfrm>
            <a:off x="25511760" y="27660600"/>
            <a:ext cx="11887200" cy="3657600"/>
          </a:xfrm>
          <a:prstGeom prst="rect">
            <a:avLst/>
          </a:prstGeom>
          <a:solidFill>
            <a:srgbClr val="E8F4FA"/>
          </a:solidFill>
          <a:ln w="19050">
            <a:solidFill>
              <a:srgbClr val="B8D0E8"/>
            </a:solidFill>
            <a:prstDash val="solid"/>
          </a:ln>
        </p:spPr>
      </p:sp>
      <p:sp>
        <p:nvSpPr>
          <p:cNvPr id="88" name="Shape 80"/>
          <p:cNvSpPr/>
          <p:nvPr/>
        </p:nvSpPr>
        <p:spPr>
          <a:xfrm>
            <a:off x="25511760" y="27660600"/>
            <a:ext cx="11887200" cy="566928"/>
          </a:xfrm>
          <a:prstGeom prst="rect">
            <a:avLst/>
          </a:prstGeom>
          <a:solidFill>
            <a:srgbClr val="0D1B4B"/>
          </a:solidFill>
          <a:ln w="12700">
            <a:solidFill>
              <a:srgbClr val="0D1B4B"/>
            </a:solidFill>
            <a:prstDash val="solid"/>
          </a:ln>
        </p:spPr>
      </p:sp>
      <p:sp>
        <p:nvSpPr>
          <p:cNvPr id="89" name="Text 81"/>
          <p:cNvSpPr/>
          <p:nvPr/>
        </p:nvSpPr>
        <p:spPr>
          <a:xfrm>
            <a:off x="25676352" y="276606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FUTURE DIRECTIONS</a:t>
            </a:r>
            <a:endParaRPr lang="en-US" sz="2600" dirty="0"/>
          </a:p>
        </p:txBody>
      </p:sp>
      <p:sp>
        <p:nvSpPr>
          <p:cNvPr id="90" name="Text 82"/>
          <p:cNvSpPr/>
          <p:nvPr/>
        </p:nvSpPr>
        <p:spPr>
          <a:xfrm>
            <a:off x="25694640" y="28318968"/>
            <a:ext cx="11567160" cy="2907792"/>
          </a:xfrm>
          <a:prstGeom prst="rect">
            <a:avLst/>
          </a:prstGeom>
          <a:noFill/>
          <a:ln/>
        </p:spPr>
        <p:txBody>
          <a:bodyPr wrap="square" rtlCol="0" anchor="t"/>
          <a:lstStyle/>
          <a:p>
            <a:pPr algn="l" indent="0" marL="0">
              <a:buNone/>
            </a:pPr>
            <a:r>
              <a:rPr lang="en-US" sz="2000" dirty="0">
                <a:solidFill>
                  <a:srgbClr val="000000"/>
                </a:solidFill>
              </a:rPr>
              <a:t>• Per-constraint penalty tuning (λ₁…λ₄) to improve Hard-instance success rate
</a:t>
            </a:r>
            <a:endParaRPr lang="en-US" sz="2000" dirty="0"/>
          </a:p>
          <a:p>
            <a:pPr algn="l" indent="0" marL="0">
              <a:buNone/>
            </a:pPr>
            <a:r>
              <a:rPr lang="en-US" sz="2000" dirty="0">
                <a:solidFill>
                  <a:srgbClr val="000000"/>
                </a:solidFill>
              </a:rPr>
              <a:t>• Alternative encoding (e.g. domain-wall) + embedding optimization to cut qubit count and chain breaks
</a:t>
            </a:r>
            <a:endParaRPr lang="en-US" sz="2000" dirty="0"/>
          </a:p>
          <a:p>
            <a:pPr algn="l" indent="0" marL="0">
              <a:buNone/>
            </a:pPr>
            <a:r>
              <a:rPr lang="en-US" sz="2000" dirty="0">
                <a:solidFill>
                  <a:srgbClr val="000000"/>
                </a:solidFill>
              </a:rPr>
              <a:t>• Direct Advantage2 QPU on full 9×9 without hybrid — pure annealing benchmark
</a:t>
            </a:r>
            <a:endParaRPr lang="en-US" sz="2000" dirty="0"/>
          </a:p>
          <a:p>
            <a:pPr algn="l" indent="0" marL="0">
              <a:buNone/>
            </a:pPr>
            <a:r>
              <a:rPr lang="en-US" sz="2000" dirty="0">
                <a:solidFill>
                  <a:srgbClr val="000000"/>
                </a:solidFill>
              </a:rPr>
              <a:t>• Sweep full clue-count range (17–40) to map where the QPU’s solvability boundary lies
</a:t>
            </a:r>
            <a:endParaRPr lang="en-US" sz="2000" dirty="0"/>
          </a:p>
          <a:p>
            <a:pPr algn="l" indent="0" marL="0">
              <a:buNone/>
            </a:pPr>
            <a:r>
              <a:rPr lang="en-US" sz="2000" dirty="0">
                <a:solidFill>
                  <a:srgbClr val="000000"/>
                </a:solidFill>
              </a:rPr>
              <a:t>• Scale to 16×16 Sudoku via hybrid quantum-classical decomposition</a:t>
            </a:r>
            <a:endParaRPr lang="en-US" sz="2000" dirty="0"/>
          </a:p>
        </p:txBody>
      </p:sp>
      <p:sp>
        <p:nvSpPr>
          <p:cNvPr id="91" name="Shape 83"/>
          <p:cNvSpPr/>
          <p:nvPr/>
        </p:nvSpPr>
        <p:spPr>
          <a:xfrm>
            <a:off x="0" y="31455360"/>
            <a:ext cx="38404800" cy="1463040"/>
          </a:xfrm>
          <a:prstGeom prst="rect">
            <a:avLst/>
          </a:prstGeom>
          <a:solidFill>
            <a:srgbClr val="0D1B4B"/>
          </a:solidFill>
          <a:ln w="12700">
            <a:solidFill>
              <a:srgbClr val="0D1B4B"/>
            </a:solidFill>
            <a:prstDash val="solid"/>
          </a:ln>
        </p:spPr>
      </p:sp>
      <p:sp>
        <p:nvSpPr>
          <p:cNvPr id="92" name="Shape 84"/>
          <p:cNvSpPr/>
          <p:nvPr/>
        </p:nvSpPr>
        <p:spPr>
          <a:xfrm>
            <a:off x="0" y="31455360"/>
            <a:ext cx="38404800" cy="91440"/>
          </a:xfrm>
          <a:prstGeom prst="rect">
            <a:avLst/>
          </a:prstGeom>
          <a:solidFill>
            <a:srgbClr val="00B4D8"/>
          </a:solidFill>
          <a:ln w="12700">
            <a:solidFill>
              <a:srgbClr val="00B4D8"/>
            </a:solidFill>
            <a:prstDash val="solid"/>
          </a:ln>
        </p:spPr>
      </p:sp>
      <p:sp>
        <p:nvSpPr>
          <p:cNvPr id="93" name="Text 85"/>
          <p:cNvSpPr/>
          <p:nvPr/>
        </p:nvSpPr>
        <p:spPr>
          <a:xfrm>
            <a:off x="548640" y="31546800"/>
            <a:ext cx="35204400" cy="1280160"/>
          </a:xfrm>
          <a:prstGeom prst="rect">
            <a:avLst/>
          </a:prstGeom>
          <a:noFill/>
          <a:ln/>
        </p:spPr>
        <p:txBody>
          <a:bodyPr wrap="square" lIns="0" tIns="0" rIns="0" bIns="0" rtlCol="0" anchor="ctr"/>
          <a:lstStyle/>
          <a:p>
            <a:pPr algn="l" indent="0" marL="0">
              <a:buNone/>
            </a:pPr>
            <a:r>
              <a:rPr lang="en-US" sz="2600" b="1" dirty="0">
                <a:solidFill>
                  <a:srgbClr val="00B4D8"/>
                </a:solidFill>
              </a:rPr>
              <a:t>Special Thanks:  </a:t>
            </a:r>
            <a:pPr algn="l" indent="0" marL="0">
              <a:buNone/>
            </a:pPr>
            <a:r>
              <a:rPr lang="en-US" sz="2600" dirty="0">
                <a:solidFill>
                  <a:srgbClr val="FFFFFF"/>
                </a:solidFill>
              </a:rPr>
              <a:t>Prof. Thang Dinh, Dept. of Computer Science, Virginia Commonwealth University — for guidance, resources, and D-Wave hardware access.</a:t>
            </a:r>
            <a:endParaRPr lang="en-US" sz="2600" dirty="0"/>
          </a:p>
        </p:txBody>
      </p:sp>
      <p:pic>
        <p:nvPicPr>
          <p:cNvPr id="94" name="Image 6" descr="figures/vectorized/qr_code.png"/>
          <p:cNvPicPr>
            <a:picLocks noChangeAspect="1"/>
          </p:cNvPicPr>
          <p:nvPr/>
        </p:nvPicPr>
        <p:blipFill>
          <a:blip r:embed="rId7"/>
          <a:stretch>
            <a:fillRect/>
          </a:stretch>
        </p:blipFill>
        <p:spPr>
          <a:xfrm>
            <a:off x="36850320" y="31546800"/>
            <a:ext cx="1280160" cy="1280160"/>
          </a:xfrm>
          <a:prstGeom prst="rect">
            <a:avLst/>
          </a:prstGeom>
        </p:spPr>
      </p:pic>
      <p:sp>
        <p:nvSpPr>
          <p:cNvPr id="95" name="QRLabel"/>
          <p:cNvSpPr>
            <a:spLocks noGrp="1"/>
          </p:cNvSpPr>
          <p:nvPr/>
        </p:nvSpPr>
        <p:spPr>
          <a:xfrm>
            <a:off x="36420320" y="31546800"/>
            <a:ext cx="380000" cy="1280160"/>
          </a:xfrm>
          <a:prstGeom prst="rect">
            <a:avLst/>
          </a:prstGeom>
          <a:noFill/>
        </p:spPr>
        <p:txBody>
          <a:bodyPr wrap="square" anchor="ctr" lIns="0" rIns="0" tIns="0" bIns="0"/>
          <a:lstStyle/>
          <a:p>
            <a:pPr algn="ctr">
              <a:lnSpc>
                <a:spcPts val="1000"/>
              </a:lnSpc>
              <a:spcBef>
                <a:spcPts val="0"/>
              </a:spcBef>
              <a:spcAft>
                <a:spcPts val="0"/>
              </a:spcAft>
            </a:pPr>
            <a:r>
              <a:rPr lang="en-US" sz="1300" b="1" dirty="0">
                <a:solidFill>
                  <a:srgbClr val="FFFFFF"/>
                </a:solidFill>
              </a:rPr>
              <a:t>R</a:t>
            </a:r>
          </a:p>
          <a:p>
            <a:pPr algn="ctr">
              <a:lnSpc>
                <a:spcPts val="1000"/>
              </a:lnSpc>
              <a:spcBef>
                <a:spcPts val="0"/>
              </a:spcBef>
              <a:spcAft>
                <a:spcPts val="0"/>
              </a:spcAft>
            </a:pPr>
            <a:r>
              <a:rPr lang="en-US" sz="1300" b="1" dirty="0">
                <a:solidFill>
                  <a:srgbClr val="FFFFFF"/>
                </a:solidFill>
              </a:rPr>
              <a:t>E</a:t>
            </a:r>
          </a:p>
          <a:p>
            <a:pPr algn="ctr">
              <a:lnSpc>
                <a:spcPts val="1000"/>
              </a:lnSpc>
              <a:spcBef>
                <a:spcPts val="0"/>
              </a:spcBef>
              <a:spcAft>
                <a:spcPts val="0"/>
              </a:spcAft>
            </a:pPr>
            <a:r>
              <a:rPr lang="en-US" sz="1300" b="1" dirty="0">
                <a:solidFill>
                  <a:srgbClr val="FFFFFF"/>
                </a:solidFill>
              </a:rPr>
              <a:t>S</a:t>
            </a:r>
          </a:p>
          <a:p>
            <a:pPr algn="ctr">
              <a:lnSpc>
                <a:spcPts val="1000"/>
              </a:lnSpc>
              <a:spcBef>
                <a:spcPts val="0"/>
              </a:spcBef>
              <a:spcAft>
                <a:spcPts val="0"/>
              </a:spcAft>
            </a:pPr>
            <a:r>
              <a:rPr lang="en-US" sz="1300" b="1" dirty="0">
                <a:solidFill>
                  <a:srgbClr val="FFFFFF"/>
                </a:solidFill>
              </a:rPr>
              <a:t>O</a:t>
            </a:r>
          </a:p>
          <a:p>
            <a:pPr algn="ctr">
              <a:lnSpc>
                <a:spcPts val="1000"/>
              </a:lnSpc>
              <a:spcBef>
                <a:spcPts val="0"/>
              </a:spcBef>
              <a:spcAft>
                <a:spcPts val="0"/>
              </a:spcAft>
            </a:pPr>
            <a:r>
              <a:rPr lang="en-US" sz="1300" b="1" dirty="0">
                <a:solidFill>
                  <a:srgbClr val="FFFFFF"/>
                </a:solidFill>
              </a:rPr>
              <a:t>U</a:t>
            </a:r>
          </a:p>
          <a:p>
            <a:pPr algn="ctr">
              <a:lnSpc>
                <a:spcPts val="1000"/>
              </a:lnSpc>
              <a:spcBef>
                <a:spcPts val="0"/>
              </a:spcBef>
              <a:spcAft>
                <a:spcPts val="0"/>
              </a:spcAft>
            </a:pPr>
            <a:r>
              <a:rPr lang="en-US" sz="1300" b="1" dirty="0">
                <a:solidFill>
                  <a:srgbClr val="FFFFFF"/>
                </a:solidFill>
              </a:rPr>
              <a:t>R</a:t>
            </a:r>
          </a:p>
          <a:p>
            <a:pPr algn="ctr">
              <a:lnSpc>
                <a:spcPts val="1000"/>
              </a:lnSpc>
              <a:spcBef>
                <a:spcPts val="0"/>
              </a:spcBef>
              <a:spcAft>
                <a:spcPts val="0"/>
              </a:spcAft>
            </a:pPr>
            <a:r>
              <a:rPr lang="en-US" sz="1300" b="1" dirty="0">
                <a:solidFill>
                  <a:srgbClr val="FFFFFF"/>
                </a:solidFill>
              </a:rPr>
              <a:t>C</a:t>
            </a:r>
          </a:p>
          <a:p>
            <a:pPr algn="ctr">
              <a:lnSpc>
                <a:spcPts val="1000"/>
              </a:lnSpc>
              <a:spcBef>
                <a:spcPts val="0"/>
              </a:spcBef>
              <a:spcAft>
                <a:spcPts val="0"/>
              </a:spcAft>
            </a:pPr>
            <a:r>
              <a:rPr lang="en-US" sz="1300" b="1" dirty="0">
                <a:solidFill>
                  <a:srgbClr val="FFFFFF"/>
                </a:solidFill>
              </a:rPr>
              <a:t>E</a:t>
            </a:r>
          </a:p>
          <a:p>
            <a:pPr algn="ctr">
              <a:lnSpc>
                <a:spcPts val="1000"/>
              </a:lnSpc>
              <a:spcBef>
                <a:spcPts val="0"/>
              </a:spcBef>
              <a:spcAft>
                <a:spcPts val="0"/>
              </a:spcAft>
            </a:pPr>
            <a:r>
              <a:rPr lang="en-US" sz="1300" b="1" dirty="0">
                <a:solidFill>
                  <a:srgbClr val="FFFFFF"/>
                </a:solidFill>
              </a:rPr>
              <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2026-03-27T08:56:49Z</dcterms:created>
  <dcterms:modified xsi:type="dcterms:W3CDTF">2026-03-27T08:56:49Z</dcterms:modified>
</cp:coreProperties>
</file>